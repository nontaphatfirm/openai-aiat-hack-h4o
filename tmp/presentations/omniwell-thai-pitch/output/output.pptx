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c8061d97324e97" /><Relationship Type="http://schemas.openxmlformats.org/officeDocument/2006/relationships/extended-properties" Target="/docProps/app.xml" Id="Re090390f704d43a9" /><Relationship Type="http://schemas.openxmlformats.org/officeDocument/2006/relationships/officeDocument" Target="/ppt/presentation.xml" Id="R26e722abb2b24500" /></Relationships>
</file>

<file path=ppt/presentation.xml><?xml version="1.0" encoding="utf-8"?>
<p:presentation xmlns:p="http://schemas.openxmlformats.org/presentationml/2006/main">
  <p:sldMasterIdLst>
    <p:sldMasterId xmlns:r="http://schemas.openxmlformats.org/officeDocument/2006/relationships" id="2147483648" r:id="R3b6773f5e39f4353"/>
  </p:sldMasterIdLst>
  <p:notesMasterIdLst>
    <p:notesMasterId xmlns:r="http://schemas.openxmlformats.org/officeDocument/2006/relationships" r:id="R21ed08261244416b"/>
  </p:notesMasterIdLst>
  <p:sldIdLst>
    <p:sldId xmlns:r="http://schemas.openxmlformats.org/officeDocument/2006/relationships" id="256" r:id="Rf50128c2b66642fa"/>
    <p:sldId xmlns:r="http://schemas.openxmlformats.org/officeDocument/2006/relationships" id="257" r:id="R4f5bd1010c784f74"/>
    <p:sldId xmlns:r="http://schemas.openxmlformats.org/officeDocument/2006/relationships" id="258" r:id="R4210c28e5b284d53"/>
    <p:sldId xmlns:r="http://schemas.openxmlformats.org/officeDocument/2006/relationships" id="259" r:id="R0766bf0188aa43f8"/>
    <p:sldId xmlns:r="http://schemas.openxmlformats.org/officeDocument/2006/relationships" id="260" r:id="R3683175a6000448f"/>
    <p:sldId xmlns:r="http://schemas.openxmlformats.org/officeDocument/2006/relationships" id="261" r:id="Rb9c2c2c290554aac"/>
    <p:sldId xmlns:r="http://schemas.openxmlformats.org/officeDocument/2006/relationships" id="262" r:id="R40faebbab0bd45ad"/>
    <p:sldId xmlns:r="http://schemas.openxmlformats.org/officeDocument/2006/relationships" id="263" r:id="Rb819f7a8e1c0428c"/>
    <p:sldId xmlns:r="http://schemas.openxmlformats.org/officeDocument/2006/relationships" id="264" r:id="Rf12de660d7614f4a"/>
    <p:sldId xmlns:r="http://schemas.openxmlformats.org/officeDocument/2006/relationships" id="265" r:id="R83206ad0f13f4662"/>
    <p:sldId xmlns:r="http://schemas.openxmlformats.org/officeDocument/2006/relationships" id="266" r:id="R4985274263e74790"/>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3b6773f5e39f4353" /><Relationship Type="http://schemas.openxmlformats.org/officeDocument/2006/relationships/theme" Target="/ppt/theme/theme1.xml" Id="Rb86d2573718e4170" /><Relationship Type="http://schemas.openxmlformats.org/officeDocument/2006/relationships/notesMaster" Target="/ppt/notesMasters/notesMaster1.xml" Id="R21ed08261244416b" /><Relationship Type="http://schemas.openxmlformats.org/officeDocument/2006/relationships/presProps" Target="/ppt/presProps.xml" Id="Rb573e1a43a7344a6" /><Relationship Type="http://schemas.openxmlformats.org/officeDocument/2006/relationships/viewProps" Target="/ppt/viewProps.xml" Id="R013b5c35bf844214" /><Relationship Type="http://schemas.openxmlformats.org/officeDocument/2006/relationships/tableStyles" Target="/ppt/tableStyles.xml" Id="R4f36693d5a364796" /><Relationship Type="http://schemas.openxmlformats.org/officeDocument/2006/relationships/slide" Target="/ppt/slides/slide1.xml" Id="Rf50128c2b66642fa" /><Relationship Type="http://schemas.openxmlformats.org/officeDocument/2006/relationships/slide" Target="/ppt/slides/slide2.xml" Id="R4f5bd1010c784f74" /><Relationship Type="http://schemas.openxmlformats.org/officeDocument/2006/relationships/slide" Target="/ppt/slides/slide3.xml" Id="R4210c28e5b284d53" /><Relationship Type="http://schemas.openxmlformats.org/officeDocument/2006/relationships/slide" Target="/ppt/slides/slide4.xml" Id="R0766bf0188aa43f8" /><Relationship Type="http://schemas.openxmlformats.org/officeDocument/2006/relationships/slide" Target="/ppt/slides/slide5.xml" Id="R3683175a6000448f" /><Relationship Type="http://schemas.openxmlformats.org/officeDocument/2006/relationships/slide" Target="/ppt/slides/slide6.xml" Id="Rb9c2c2c290554aac" /><Relationship Type="http://schemas.openxmlformats.org/officeDocument/2006/relationships/slide" Target="/ppt/slides/slide7.xml" Id="R40faebbab0bd45ad" /><Relationship Type="http://schemas.openxmlformats.org/officeDocument/2006/relationships/slide" Target="/ppt/slides/slide8.xml" Id="Rb819f7a8e1c0428c" /><Relationship Type="http://schemas.openxmlformats.org/officeDocument/2006/relationships/slide" Target="/ppt/slides/slide9.xml" Id="Rf12de660d7614f4a" /><Relationship Type="http://schemas.openxmlformats.org/officeDocument/2006/relationships/slide" Target="/ppt/slides/slide10.xml" Id="R83206ad0f13f4662" /><Relationship Type="http://schemas.openxmlformats.org/officeDocument/2006/relationships/slide" Target="/ppt/slides/slide11.xml" Id="R4985274263e747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a71e44ff091d44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627566c34f458e" /><Relationship Type="http://schemas.openxmlformats.org/officeDocument/2006/relationships/notesMaster" Target="/ppt/notesMasters/notesMaster1.xml" Id="R9ff84db8c9fa47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01540957684f1d" /><Relationship Type="http://schemas.openxmlformats.org/officeDocument/2006/relationships/notesMaster" Target="/ppt/notesMasters/notesMaster1.xml" Id="Rf403be246e0f46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71b0eaa26b4103" /><Relationship Type="http://schemas.openxmlformats.org/officeDocument/2006/relationships/notesMaster" Target="/ppt/notesMasters/notesMaster1.xml" Id="R7519da1975424b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61874d9d644a2a" /><Relationship Type="http://schemas.openxmlformats.org/officeDocument/2006/relationships/notesMaster" Target="/ppt/notesMasters/notesMaster1.xml" Id="R1d82fc9f2bc64f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89870b782e47ad" /><Relationship Type="http://schemas.openxmlformats.org/officeDocument/2006/relationships/notesMaster" Target="/ppt/notesMasters/notesMaster1.xml" Id="Raa3692ce99054b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42654739094d0d" /><Relationship Type="http://schemas.openxmlformats.org/officeDocument/2006/relationships/notesMaster" Target="/ppt/notesMasters/notesMaster1.xml" Id="R8906886a703043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f89a7fa78e4d0b" /><Relationship Type="http://schemas.openxmlformats.org/officeDocument/2006/relationships/notesMaster" Target="/ppt/notesMasters/notesMaster1.xml" Id="Re38782edadba48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3c5105a1684302" /><Relationship Type="http://schemas.openxmlformats.org/officeDocument/2006/relationships/notesMaster" Target="/ppt/notesMasters/notesMaster1.xml" Id="Rfb301f21bc6b44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a7f5162a6a462d" /><Relationship Type="http://schemas.openxmlformats.org/officeDocument/2006/relationships/notesMaster" Target="/ppt/notesMasters/notesMaster1.xml" Id="Rbd513cb01fa644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3704740cb3464d" /><Relationship Type="http://schemas.openxmlformats.org/officeDocument/2006/relationships/notesMaster" Target="/ppt/notesMasters/notesMaster1.xml" Id="Rf72487ca980444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a8d881073e489b" /><Relationship Type="http://schemas.openxmlformats.org/officeDocument/2006/relationships/notesMaster" Target="/ppt/notesMasters/notesMaster1.xml" Id="R403e438a05344d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 Today, wellness advice is everywhere. In a post-AGI world, intelligence is no longer scarce; relevance is. OmniWell Thai brings relevance to the exact moment health decisions happen: the meal. We combine AGI software, a Smart Spoon that measures food directly, and Thailand's healing culture to make personal wellness feel local, trusted, and actionable. The promise is simple: advice that meets Thai people where they already eat, recover, and heal.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[0:25-0:52] The paradox is simple. AGI can generate a thousand meal plans, but a Thai user does not need a thousand plans. They need one safe choice at lunch, one warning before too much sodium, and one path that fits family, neighborhood food, stress, air quality, and habits. OmniWell Thai is built for that last mile. That is the competitive 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[0:52-1:18] Most wellness products stop at dashboards. Thailand's opportunity is different. Health decisions are deeply local: what is available at the market, what the family is eating, whether the air is bad today, whether the user slept poorly, and whether a monk talk, massage, or group walk is the right support. Generic nutrition misses that, so the product must be as Thai as the food.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[1:18-1:44] Our answer is a triad. Hardware captures the truth of the meal. AGI turns chaotic data into safe, personal recommendations. Community turns the recommendation into a lifestyle: massage, acupuncture, community fitness, meditation, sound therapy, and healing tourism. The product is not another chatbot; it is a wellness loop. Each side reinforces the others.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[1:44-2:14] Software can ask what you ate, but people forget, guess, or underreport. The Smart Spoon closes that gap. NIR helps estimate macro patterns. The load cell measures weight and portion. EIS gives a sodium signal, critical for many chronic risk profiles. Haptics make the feedback immediate and respectful. It turns passive tracking into active coaching.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[2:14-2:40] The engine is where AGI matters. We are not predicting wellness from one variable. We combine static profile like allergies and medication, dynamic profile like sleep, stress, and PAI, environment like PM2.5 and UV, plus the actual meal signal from the spoon. The output is precise: eat this, reduce that, add this recovery practice. Every meal updates the model and makes tomorrow's advice sharper.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[2:40-3:06] Imagine the user opens dinner guidance. Instead of a generic salad, OmniWell suggests gaeng liang, brown rice, and grilled fish because the ingredients are accessible. If sleep was low and PM2.5 is high, it shifts toward anti-inflammatory choices. If sodium risk rises, the spoon taps before the user crosses the threshold. Personalization becomes visible without forcing the user to become a nutrition scientist.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[3:06-3:33] This is the soul of the product. Thailand already has healing infrastructure: bodywork, acupuncture, community exercise, meditation, Dharma listening, retreats, and tourism. AGI can personalize the path, but Thai culture gives it trust, ritual, and continuity. That is difficult for a generic global wellness app to copy. The result is adherence with dignity.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[3:33-3:58] The impact is national but the interaction is intimate. Start with one meal. That builds a personal feedback loop. Then families, coaches, clinics, and wellness partners can support the same person with consent and context. For a country-scale market, around 70 million Thais, the system stays personal because the recommendation stays small. That is how scale avoids becoming generic.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[3:58-4:24] Why now? Because the pieces finally fit. AGI can orchestrate messy context instead of giving generic answers. Sensors can make food intake measurable without making the user log every bite. And Thailand can turn healing from an offline cultural strength into a digital-plus-physical platform. This timing makes OmniWell feel inevitable.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[4:24-5:00] Our hackathon ask is focused: help us prove the loop. We will simulate the Smart Spoon signals, build the AGI recommendation graph, and demo a Thai-local journey from dinner guidance to healing support. OmniWell Thai is not just personal nutrition. It is a national wellness interface: measured, intelligent, and deeply Thai. Judges should see a working loop, not a promise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8c4e0500944589"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ee4614b302d14142" /><Relationship Type="http://schemas.openxmlformats.org/officeDocument/2006/relationships/slideLayout" Target="/ppt/slideLayouts/slideLayout2.xml" Id="R85b77bdb06a546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b77bdb06a546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51ff05613e604cf8" /><Relationship Type="http://schemas.openxmlformats.org/officeDocument/2006/relationships/notesSlide" Target="/ppt/notesSlides/notesSlide1.xml" Id="R9482c41cae6d4b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c9308073f354616" /><Relationship Type="http://schemas.openxmlformats.org/officeDocument/2006/relationships/notesSlide" Target="/ppt/notesSlides/notesSlide2.xml" Id="Rd15fcded4b4e4e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1980d94312241e3" /><Relationship Type="http://schemas.openxmlformats.org/officeDocument/2006/relationships/notesSlide" Target="/ppt/notesSlides/notesSlide3.xml" Id="Rd1042dc1393847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d30bfc343424cfc" /><Relationship Type="http://schemas.openxmlformats.org/officeDocument/2006/relationships/notesSlide" Target="/ppt/notesSlides/notesSlide4.xml" Id="R349f03cdb0ee47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be0738a94b548df" /><Relationship Type="http://schemas.openxmlformats.org/officeDocument/2006/relationships/notesSlide" Target="/ppt/notesSlides/notesSlide5.xml" Id="R4089a32fac4644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8b6916bd41c4a70" /><Relationship Type="http://schemas.openxmlformats.org/officeDocument/2006/relationships/notesSlide" Target="/ppt/notesSlides/notesSlide6.xml" Id="Re59995dc512940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320b9e87c80413f" /><Relationship Type="http://schemas.openxmlformats.org/officeDocument/2006/relationships/notesSlide" Target="/ppt/notesSlides/notesSlide7.xml" Id="R7d556b4fb9e04a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172e4adbdb1c49e4" /><Relationship Type="http://schemas.openxmlformats.org/officeDocument/2006/relationships/notesSlide" Target="/ppt/notesSlides/notesSlide8.xml" Id="R483bbc99a39445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89ff04ff64e4c9a" /><Relationship Type="http://schemas.openxmlformats.org/officeDocument/2006/relationships/notesSlide" Target="/ppt/notesSlides/notesSlide9.xml" Id="Rbfec119153d240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a1a17488780421c" /><Relationship Type="http://schemas.openxmlformats.org/officeDocument/2006/relationships/notesSlide" Target="/ppt/notesSlides/notesSlide10.xml" Id="R73dfbe61c85146e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c4ffa1e64da14075" /><Relationship Type="http://schemas.openxmlformats.org/officeDocument/2006/relationships/notesSlide" Target="/ppt/notesSlides/notesSlide11.xml" Id="Rdb1da61b51e6459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83A73374-6D13-4DC2-90A1-F7934E84AE7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E1C"/>
          </a:solidFill>
        </p:spPr>
      </p:sp>
      <p:sp>
        <p:nvSpPr>
          <p:cNvPr id="2" name="cover-gold-field">
            <a:extLst xmlns:a="http://schemas.openxmlformats.org/drawingml/2006/main">
              <a:ext uri="{FF2B5EF4-FFF2-40B4-BE49-F238E27FC236}">
                <a16:creationId xmlns:a16="http://schemas.microsoft.com/office/drawing/2014/main" id="{0282440C-7D3B-48D8-96BE-83916D537304}"/>
              </a:ext>
            </a:extLst>
          </p:cNvPr>
          <p:cNvSpPr>
            <a:spLocks xmlns:a="http://schemas.openxmlformats.org/drawingml/2006/main" noGrp="1"/>
          </p:cNvSpPr>
          <p:nvPr/>
        </p:nvSpPr>
        <p:spPr>
          <a:xfrm xmlns:a="http://schemas.openxmlformats.org/drawingml/2006/main">
            <a:off x="0" y="0"/>
            <a:ext cx="4953000" cy="10287000"/>
          </a:xfrm>
          <a:prstGeom xmlns:a="http://schemas.openxmlformats.org/drawingml/2006/main" prst="rect">
            <a:avLst/>
          </a:prstGeom>
          <a:solidFill xmlns:a="http://schemas.openxmlformats.org/drawingml/2006/main">
            <a:srgbClr val="F0BE49"/>
          </a:solidFill>
        </p:spPr>
      </p:sp>
      <p:sp>
        <p:nvSpPr>
          <p:cNvPr id="3" name="cover-kicker">
            <a:extLst xmlns:a="http://schemas.openxmlformats.org/drawingml/2006/main">
              <a:ext uri="{FF2B5EF4-FFF2-40B4-BE49-F238E27FC236}">
                <a16:creationId xmlns:a16="http://schemas.microsoft.com/office/drawing/2014/main" id="{D703D69E-57F6-49F3-A722-97102C909900}"/>
              </a:ext>
            </a:extLst>
          </p:cNvPr>
          <p:cNvSpPr>
            <a:spLocks xmlns:a="http://schemas.openxmlformats.org/drawingml/2006/main" noGrp="1"/>
          </p:cNvSpPr>
          <p:nvPr/>
        </p:nvSpPr>
        <p:spPr>
          <a:xfrm xmlns:a="http://schemas.openxmlformats.org/drawingml/2006/main">
            <a:off x="895350" y="3143250"/>
            <a:ext cx="15811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i="0">
                <a:solidFill>
                  <a:srgbClr val="F0BE49"/>
                </a:solidFill>
              </a:defRPr>
            </a:pPr>
            <a:r>
              <a:rPr sz="1800" b="1" i="0">
                <a:solidFill>
                  <a:srgbClr val="F0BE49"/>
                </a:solidFill>
              </a:rPr>
              <a:t>OMNIWELL THAI</a:t>
            </a:r>
          </a:p>
        </p:txBody>
      </p:sp>
      <p:sp>
        <p:nvSpPr>
          <p:cNvPr id="4" name="cover-title">
            <a:extLst xmlns:a="http://schemas.openxmlformats.org/drawingml/2006/main">
              <a:ext uri="{FF2B5EF4-FFF2-40B4-BE49-F238E27FC236}">
                <a16:creationId xmlns:a16="http://schemas.microsoft.com/office/drawing/2014/main" id="{963F13DA-A5A5-43AC-AF6F-CE273E2B6EF1}"/>
              </a:ext>
            </a:extLst>
          </p:cNvPr>
          <p:cNvSpPr>
            <a:spLocks xmlns:a="http://schemas.openxmlformats.org/drawingml/2006/main" noGrp="1"/>
          </p:cNvSpPr>
          <p:nvPr/>
        </p:nvSpPr>
        <p:spPr>
          <a:xfrm xmlns:a="http://schemas.openxmlformats.org/drawingml/2006/main">
            <a:off x="895350" y="3924300"/>
            <a:ext cx="8248650" cy="2019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6600" b="1" i="0">
                <a:solidFill>
                  <a:srgbClr val="FFFFFF"/>
                </a:solidFill>
              </a:defRPr>
            </a:pPr>
            <a:r>
              <a:rPr sz="6600" b="1" i="0">
                <a:solidFill>
                  <a:srgbClr val="FFFFFF"/>
                </a:solidFill>
              </a:rPr>
              <a:t>Post-AGI wellness, measured at the spoon.</a:t>
            </a:r>
          </a:p>
        </p:txBody>
      </p:sp>
      <p:sp>
        <p:nvSpPr>
          <p:cNvPr id="5" name="cover-rule">
            <a:extLst xmlns:a="http://schemas.openxmlformats.org/drawingml/2006/main">
              <a:ext uri="{FF2B5EF4-FFF2-40B4-BE49-F238E27FC236}">
                <a16:creationId xmlns:a16="http://schemas.microsoft.com/office/drawing/2014/main" id="{D9C2FAED-B29E-4BD8-9180-1BA1B01C7773}"/>
              </a:ext>
            </a:extLst>
          </p:cNvPr>
          <p:cNvSpPr>
            <a:spLocks xmlns:a="http://schemas.openxmlformats.org/drawingml/2006/main" noGrp="1"/>
          </p:cNvSpPr>
          <p:nvPr/>
        </p:nvSpPr>
        <p:spPr>
          <a:xfrm xmlns:a="http://schemas.openxmlformats.org/drawingml/2006/main">
            <a:off x="895350" y="6153150"/>
            <a:ext cx="2476500" cy="66675"/>
          </a:xfrm>
          <a:prstGeom xmlns:a="http://schemas.openxmlformats.org/drawingml/2006/main" prst="rect">
            <a:avLst/>
          </a:prstGeom>
          <a:solidFill xmlns:a="http://schemas.openxmlformats.org/drawingml/2006/main">
            <a:srgbClr val="F06C3E"/>
          </a:solidFill>
          <a:ln xmlns:a="http://schemas.openxmlformats.org/drawingml/2006/main" w="0">
            <a:solidFill>
              <a:srgbClr val="F06C3E"/>
            </a:solidFill>
            <a:prstDash val="solid"/>
          </a:ln>
        </p:spPr>
      </p:sp>
      <p:sp>
        <p:nvSpPr>
          <p:cNvPr id="6" name="cover-subtitle">
            <a:extLst xmlns:a="http://schemas.openxmlformats.org/drawingml/2006/main">
              <a:ext uri="{FF2B5EF4-FFF2-40B4-BE49-F238E27FC236}">
                <a16:creationId xmlns:a16="http://schemas.microsoft.com/office/drawing/2014/main" id="{2C233DEE-162C-4EDA-B1FB-CD5AC5C6E0F7}"/>
              </a:ext>
            </a:extLst>
          </p:cNvPr>
          <p:cNvSpPr>
            <a:spLocks xmlns:a="http://schemas.openxmlformats.org/drawingml/2006/main" noGrp="1"/>
          </p:cNvSpPr>
          <p:nvPr/>
        </p:nvSpPr>
        <p:spPr>
          <a:xfrm xmlns:a="http://schemas.openxmlformats.org/drawingml/2006/main">
            <a:off x="895350" y="6457950"/>
            <a:ext cx="775335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0" i="0">
                <a:solidFill>
                  <a:srgbClr val="DDF7E8"/>
                </a:solidFill>
              </a:defRPr>
            </a:pPr>
            <a:r>
              <a:rPr sz="2250" b="0" i="0">
                <a:solidFill>
                  <a:srgbClr val="DDF7E8"/>
                </a:solidFill>
              </a:rPr>
              <a:t>A five-minute hackathon pitch for hyper-personalized nutrition and Thai healing.</a:t>
            </a:r>
          </a:p>
        </p:txBody>
      </p:sp>
      <p:sp>
        <p:nvSpPr>
          <p:cNvPr id="7" name="cover-orbit">
            <a:extLst xmlns:a="http://schemas.openxmlformats.org/drawingml/2006/main">
              <a:ext uri="{FF2B5EF4-FFF2-40B4-BE49-F238E27FC236}">
                <a16:creationId xmlns:a16="http://schemas.microsoft.com/office/drawing/2014/main" id="{845B5003-F3A1-48CD-B99B-1D9EB7D1B978}"/>
              </a:ext>
            </a:extLst>
          </p:cNvPr>
          <p:cNvSpPr>
            <a:spLocks xmlns:a="http://schemas.openxmlformats.org/drawingml/2006/main" noGrp="1"/>
          </p:cNvSpPr>
          <p:nvPr/>
        </p:nvSpPr>
        <p:spPr>
          <a:xfrm xmlns:a="http://schemas.openxmlformats.org/drawingml/2006/main">
            <a:off x="9829800" y="762000"/>
            <a:ext cx="5715000" cy="5715000"/>
          </a:xfrm>
          <a:prstGeom xmlns:a="http://schemas.openxmlformats.org/drawingml/2006/main" prst="ellipse">
            <a:avLst/>
          </a:prstGeom>
          <a:solidFill xmlns:a="http://schemas.openxmlformats.org/drawingml/2006/main">
            <a:srgbClr val="123F39"/>
          </a:solidFill>
        </p:spPr>
      </p:sp>
      <p:sp>
        <p:nvSpPr>
          <p:cNvPr id="8" name="cover-spoon-bowl">
            <a:extLst xmlns:a="http://schemas.openxmlformats.org/drawingml/2006/main">
              <a:ext uri="{FF2B5EF4-FFF2-40B4-BE49-F238E27FC236}">
                <a16:creationId xmlns:a16="http://schemas.microsoft.com/office/drawing/2014/main" id="{74A6B00E-C5B2-4FCF-BB6B-FE1DF6E6A9D5}"/>
              </a:ext>
            </a:extLst>
          </p:cNvPr>
          <p:cNvSpPr>
            <a:spLocks xmlns:a="http://schemas.openxmlformats.org/drawingml/2006/main" noGrp="1"/>
          </p:cNvSpPr>
          <p:nvPr/>
        </p:nvSpPr>
        <p:spPr>
          <a:xfrm xmlns:a="http://schemas.openxmlformats.org/drawingml/2006/main">
            <a:off x="9829800" y="762000"/>
            <a:ext cx="2190750" cy="3048000"/>
          </a:xfrm>
          <a:prstGeom xmlns:a="http://schemas.openxmlformats.org/drawingml/2006/main" prst="ellipse">
            <a:avLst/>
          </a:prstGeom>
          <a:solidFill xmlns:a="http://schemas.openxmlformats.org/drawingml/2006/main">
            <a:srgbClr val="FFFFFF"/>
          </a:solidFill>
        </p:spPr>
      </p:sp>
      <p:sp>
        <p:nvSpPr>
          <p:cNvPr id="9" name="cover-spoon-handle">
            <a:extLst xmlns:a="http://schemas.openxmlformats.org/drawingml/2006/main">
              <a:ext uri="{FF2B5EF4-FFF2-40B4-BE49-F238E27FC236}">
                <a16:creationId xmlns:a16="http://schemas.microsoft.com/office/drawing/2014/main" id="{38662770-AB28-4CB0-A1BF-183A7EE27D5B}"/>
              </a:ext>
            </a:extLst>
          </p:cNvPr>
          <p:cNvSpPr>
            <a:spLocks xmlns:a="http://schemas.openxmlformats.org/drawingml/2006/main" noGrp="1"/>
          </p:cNvSpPr>
          <p:nvPr/>
        </p:nvSpPr>
        <p:spPr>
          <a:xfrm xmlns:a="http://schemas.openxmlformats.org/drawingml/2006/main">
            <a:off x="9829800" y="762000"/>
            <a:ext cx="685800" cy="4476750"/>
          </a:xfrm>
          <a:prstGeom xmlns:a="http://schemas.openxmlformats.org/drawingml/2006/main" prst="rect">
            <a:avLst/>
          </a:prstGeom>
          <a:solidFill xmlns:a="http://schemas.openxmlformats.org/drawingml/2006/main">
            <a:srgbClr val="FFFFFF"/>
          </a:solidFill>
        </p:spPr>
      </p:sp>
      <p:sp>
        <p:nvSpPr>
          <p:cNvPr id="10" name="pill-cover-a">
            <a:extLst xmlns:a="http://schemas.openxmlformats.org/drawingml/2006/main">
              <a:ext uri="{FF2B5EF4-FFF2-40B4-BE49-F238E27FC236}">
                <a16:creationId xmlns:a16="http://schemas.microsoft.com/office/drawing/2014/main" id="{9F2D6B0D-3AD7-47B5-9C13-11E68FC43D3B}"/>
              </a:ext>
            </a:extLst>
          </p:cNvPr>
          <p:cNvSpPr>
            <a:spLocks xmlns:a="http://schemas.openxmlformats.org/drawingml/2006/main" noGrp="1"/>
          </p:cNvSpPr>
          <p:nvPr/>
        </p:nvSpPr>
        <p:spPr>
          <a:xfrm xmlns:a="http://schemas.openxmlformats.org/drawingml/2006/main">
            <a:off x="14725650" y="7048500"/>
            <a:ext cx="2667000" cy="457200"/>
          </a:xfrm>
          <a:prstGeom xmlns:a="http://schemas.openxmlformats.org/drawingml/2006/main" prst="roundRect">
            <a:avLst>
              <a:gd name="adj" fmla="val 50000"/>
            </a:avLst>
          </a:prstGeom>
          <a:solidFill xmlns:a="http://schemas.openxmlformats.org/drawingml/2006/main">
            <a:srgbClr val="0F8C68"/>
          </a:solidFill>
        </p:spPr>
      </p:sp>
      <p:sp>
        <p:nvSpPr>
          <p:cNvPr id="11" name="pill-text-cover-a">
            <a:extLst xmlns:a="http://schemas.openxmlformats.org/drawingml/2006/main">
              <a:ext uri="{FF2B5EF4-FFF2-40B4-BE49-F238E27FC236}">
                <a16:creationId xmlns:a16="http://schemas.microsoft.com/office/drawing/2014/main" id="{180086A8-16DD-4CA3-BE85-668705E25B73}"/>
              </a:ext>
            </a:extLst>
          </p:cNvPr>
          <p:cNvSpPr>
            <a:spLocks xmlns:a="http://schemas.openxmlformats.org/drawingml/2006/main" noGrp="1"/>
          </p:cNvSpPr>
          <p:nvPr/>
        </p:nvSpPr>
        <p:spPr>
          <a:xfrm xmlns:a="http://schemas.openxmlformats.org/drawingml/2006/main">
            <a:off x="14916150" y="7162800"/>
            <a:ext cx="2286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FFFFFF"/>
                </a:solidFill>
              </a:defRPr>
            </a:pPr>
            <a:r>
              <a:rPr sz="1500" b="1" i="0">
                <a:solidFill>
                  <a:srgbClr val="FFFFFF"/>
                </a:solidFill>
              </a:rPr>
              <a:t>AGI nutrition</a:t>
            </a:r>
          </a:p>
        </p:txBody>
      </p:sp>
      <p:sp>
        <p:nvSpPr>
          <p:cNvPr id="12" name="pill-cover-b">
            <a:extLst xmlns:a="http://schemas.openxmlformats.org/drawingml/2006/main">
              <a:ext uri="{FF2B5EF4-FFF2-40B4-BE49-F238E27FC236}">
                <a16:creationId xmlns:a16="http://schemas.microsoft.com/office/drawing/2014/main" id="{70BFA477-F398-4F72-98F3-D3B51AF32A7F}"/>
              </a:ext>
            </a:extLst>
          </p:cNvPr>
          <p:cNvSpPr>
            <a:spLocks xmlns:a="http://schemas.openxmlformats.org/drawingml/2006/main" noGrp="1"/>
          </p:cNvSpPr>
          <p:nvPr/>
        </p:nvSpPr>
        <p:spPr>
          <a:xfrm xmlns:a="http://schemas.openxmlformats.org/drawingml/2006/main">
            <a:off x="14725650" y="7696200"/>
            <a:ext cx="2667000" cy="457200"/>
          </a:xfrm>
          <a:prstGeom xmlns:a="http://schemas.openxmlformats.org/drawingml/2006/main" prst="roundRect">
            <a:avLst>
              <a:gd name="adj" fmla="val 50000"/>
            </a:avLst>
          </a:prstGeom>
          <a:solidFill xmlns:a="http://schemas.openxmlformats.org/drawingml/2006/main">
            <a:srgbClr val="F06C3E"/>
          </a:solidFill>
        </p:spPr>
      </p:sp>
      <p:sp>
        <p:nvSpPr>
          <p:cNvPr id="13" name="pill-text-cover-b">
            <a:extLst xmlns:a="http://schemas.openxmlformats.org/drawingml/2006/main">
              <a:ext uri="{FF2B5EF4-FFF2-40B4-BE49-F238E27FC236}">
                <a16:creationId xmlns:a16="http://schemas.microsoft.com/office/drawing/2014/main" id="{760FD0FF-793E-40A9-BCE4-F7EF670CC17E}"/>
              </a:ext>
            </a:extLst>
          </p:cNvPr>
          <p:cNvSpPr>
            <a:spLocks xmlns:a="http://schemas.openxmlformats.org/drawingml/2006/main" noGrp="1"/>
          </p:cNvSpPr>
          <p:nvPr/>
        </p:nvSpPr>
        <p:spPr>
          <a:xfrm xmlns:a="http://schemas.openxmlformats.org/drawingml/2006/main">
            <a:off x="14916150" y="7810500"/>
            <a:ext cx="2286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FFFFFF"/>
                </a:solidFill>
              </a:defRPr>
            </a:pPr>
            <a:r>
              <a:rPr sz="1500" b="1" i="0">
                <a:solidFill>
                  <a:srgbClr val="FFFFFF"/>
                </a:solidFill>
              </a:rPr>
              <a:t>Smart Spoon</a:t>
            </a:r>
          </a:p>
        </p:txBody>
      </p:sp>
      <p:sp>
        <p:nvSpPr>
          <p:cNvPr id="14" name="pill-cover-c">
            <a:extLst xmlns:a="http://schemas.openxmlformats.org/drawingml/2006/main">
              <a:ext uri="{FF2B5EF4-FFF2-40B4-BE49-F238E27FC236}">
                <a16:creationId xmlns:a16="http://schemas.microsoft.com/office/drawing/2014/main" id="{6727B9AA-989D-4BAD-963B-773C73562C20}"/>
              </a:ext>
            </a:extLst>
          </p:cNvPr>
          <p:cNvSpPr>
            <a:spLocks xmlns:a="http://schemas.openxmlformats.org/drawingml/2006/main" noGrp="1"/>
          </p:cNvSpPr>
          <p:nvPr/>
        </p:nvSpPr>
        <p:spPr>
          <a:xfrm xmlns:a="http://schemas.openxmlformats.org/drawingml/2006/main">
            <a:off x="14725650" y="8343900"/>
            <a:ext cx="2667000" cy="457200"/>
          </a:xfrm>
          <a:prstGeom xmlns:a="http://schemas.openxmlformats.org/drawingml/2006/main" prst="roundRect">
            <a:avLst>
              <a:gd name="adj" fmla="val 50000"/>
            </a:avLst>
          </a:prstGeom>
          <a:solidFill xmlns:a="http://schemas.openxmlformats.org/drawingml/2006/main">
            <a:srgbClr val="4CA7C5"/>
          </a:solidFill>
        </p:spPr>
      </p:sp>
      <p:sp>
        <p:nvSpPr>
          <p:cNvPr id="15" name="pill-text-cover-c">
            <a:extLst xmlns:a="http://schemas.openxmlformats.org/drawingml/2006/main">
              <a:ext uri="{FF2B5EF4-FFF2-40B4-BE49-F238E27FC236}">
                <a16:creationId xmlns:a16="http://schemas.microsoft.com/office/drawing/2014/main" id="{8EED53D9-76A0-4DC7-9AE3-C7B28EF1B8E9}"/>
              </a:ext>
            </a:extLst>
          </p:cNvPr>
          <p:cNvSpPr>
            <a:spLocks xmlns:a="http://schemas.openxmlformats.org/drawingml/2006/main" noGrp="1"/>
          </p:cNvSpPr>
          <p:nvPr/>
        </p:nvSpPr>
        <p:spPr>
          <a:xfrm xmlns:a="http://schemas.openxmlformats.org/drawingml/2006/main">
            <a:off x="14916150" y="8458200"/>
            <a:ext cx="2286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FFFFFF"/>
                </a:solidFill>
              </a:defRPr>
            </a:pPr>
            <a:r>
              <a:rPr sz="1500" b="1" i="0">
                <a:solidFill>
                  <a:srgbClr val="FFFFFF"/>
                </a:solidFill>
              </a:rPr>
              <a:t>Thai healing</a:t>
            </a:r>
          </a:p>
        </p:txBody>
      </p:sp>
    </p:spTree>
    <p:extLst>
      <p:ext uri="{BB962C8B-B14F-4D97-AF65-F5344CB8AC3E}">
        <p14:creationId xmlns:p14="http://schemas.microsoft.com/office/powerpoint/2010/main" val="18419724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A679D551-75BF-4C03-BAEE-01B3F0780E5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8F1E1"/>
          </a:solidFill>
        </p:spPr>
      </p:sp>
      <p:sp>
        <p:nvSpPr>
          <p:cNvPr id="2" name="eyebrow-2">
            <a:extLst xmlns:a="http://schemas.openxmlformats.org/drawingml/2006/main">
              <a:ext uri="{FF2B5EF4-FFF2-40B4-BE49-F238E27FC236}">
                <a16:creationId xmlns:a16="http://schemas.microsoft.com/office/drawing/2014/main" id="{F5BFC5CD-B127-4EDB-8C96-8DE052738C0F}"/>
              </a:ext>
            </a:extLst>
          </p:cNvPr>
          <p:cNvSpPr>
            <a:spLocks xmlns:a="http://schemas.openxmlformats.org/drawingml/2006/main" noGrp="1"/>
          </p:cNvSpPr>
          <p:nvPr/>
        </p:nvSpPr>
        <p:spPr>
          <a:xfrm xmlns:a="http://schemas.openxmlformats.org/drawingml/2006/main">
            <a:off x="819150" y="590550"/>
            <a:ext cx="25717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0F8C68"/>
                </a:solidFill>
              </a:defRPr>
            </a:pPr>
            <a:r>
              <a:rPr sz="1500" b="1" i="0">
                <a:solidFill>
                  <a:srgbClr val="0F8C68"/>
                </a:solidFill>
              </a:rPr>
              <a:t>HOOK | THE POST-AGI PARADOX</a:t>
            </a:r>
          </a:p>
        </p:txBody>
      </p:sp>
      <p:sp>
        <p:nvSpPr>
          <p:cNvPr id="3" name="slide-title-2">
            <a:extLst xmlns:a="http://schemas.openxmlformats.org/drawingml/2006/main">
              <a:ext uri="{FF2B5EF4-FFF2-40B4-BE49-F238E27FC236}">
                <a16:creationId xmlns:a16="http://schemas.microsoft.com/office/drawing/2014/main" id="{8093BEC0-19D8-4311-9478-2DF2919F5FDE}"/>
              </a:ext>
            </a:extLst>
          </p:cNvPr>
          <p:cNvSpPr>
            <a:spLocks xmlns:a="http://schemas.openxmlformats.org/drawingml/2006/main" noGrp="1"/>
          </p:cNvSpPr>
          <p:nvPr/>
        </p:nvSpPr>
        <p:spPr>
          <a:xfrm xmlns:a="http://schemas.openxmlformats.org/drawingml/2006/main">
            <a:off x="819150" y="990600"/>
            <a:ext cx="11563350" cy="1428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i="0">
                <a:solidFill>
                  <a:srgbClr val="12211D"/>
                </a:solidFill>
              </a:defRPr>
            </a:pPr>
            <a:r>
              <a:rPr sz="4650" b="1" i="0">
                <a:solidFill>
                  <a:srgbClr val="12211D"/>
                </a:solidFill>
              </a:rPr>
              <a:t>More intelligence does not automatically mean better health.</a:t>
            </a:r>
          </a:p>
        </p:txBody>
      </p:sp>
      <p:sp>
        <p:nvSpPr>
          <p:cNvPr id="4" name="slide-subtitle-2">
            <a:extLst xmlns:a="http://schemas.openxmlformats.org/drawingml/2006/main">
              <a:ext uri="{FF2B5EF4-FFF2-40B4-BE49-F238E27FC236}">
                <a16:creationId xmlns:a16="http://schemas.microsoft.com/office/drawing/2014/main" id="{C6BFF931-7856-40D6-81C0-3DB80AE7681A}"/>
              </a:ext>
            </a:extLst>
          </p:cNvPr>
          <p:cNvSpPr>
            <a:spLocks xmlns:a="http://schemas.openxmlformats.org/drawingml/2006/main" noGrp="1"/>
          </p:cNvSpPr>
          <p:nvPr/>
        </p:nvSpPr>
        <p:spPr>
          <a:xfrm xmlns:a="http://schemas.openxmlformats.org/drawingml/2006/main">
            <a:off x="819150" y="2571750"/>
            <a:ext cx="1074420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i="0">
                <a:solidFill>
                  <a:srgbClr val="0E3832"/>
                </a:solidFill>
              </a:defRPr>
            </a:pPr>
            <a:r>
              <a:rPr sz="2100" b="0" i="0">
                <a:solidFill>
                  <a:srgbClr val="0E3832"/>
                </a:solidFill>
              </a:rPr>
              <a:t>As AI becomes abundant, people drown in advice. The winning product turns context into one clear next action.</a:t>
            </a:r>
          </a:p>
        </p:txBody>
      </p:sp>
      <p:sp>
        <p:nvSpPr>
          <p:cNvPr id="5" name="paradox-a">
            <a:extLst xmlns:a="http://schemas.openxmlformats.org/drawingml/2006/main">
              <a:ext uri="{FF2B5EF4-FFF2-40B4-BE49-F238E27FC236}">
                <a16:creationId xmlns:a16="http://schemas.microsoft.com/office/drawing/2014/main" id="{E52E7924-295B-4C6D-8E37-E8B2E4192E06}"/>
              </a:ext>
            </a:extLst>
          </p:cNvPr>
          <p:cNvSpPr>
            <a:spLocks xmlns:a="http://schemas.openxmlformats.org/drawingml/2006/main" noGrp="1"/>
          </p:cNvSpPr>
          <p:nvPr/>
        </p:nvSpPr>
        <p:spPr>
          <a:xfrm xmlns:a="http://schemas.openxmlformats.org/drawingml/2006/main">
            <a:off x="819150" y="5048250"/>
            <a:ext cx="7143750" cy="742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800" b="1" i="0">
                <a:solidFill>
                  <a:srgbClr val="F06C3E"/>
                </a:solidFill>
              </a:defRPr>
            </a:pPr>
            <a:r>
              <a:rPr sz="4800" b="1" i="0">
                <a:solidFill>
                  <a:srgbClr val="F06C3E"/>
                </a:solidFill>
              </a:rPr>
              <a:t>Advice is cheap.</a:t>
            </a:r>
          </a:p>
        </p:txBody>
      </p:sp>
      <p:sp>
        <p:nvSpPr>
          <p:cNvPr id="6" name="paradox-b">
            <a:extLst xmlns:a="http://schemas.openxmlformats.org/drawingml/2006/main">
              <a:ext uri="{FF2B5EF4-FFF2-40B4-BE49-F238E27FC236}">
                <a16:creationId xmlns:a16="http://schemas.microsoft.com/office/drawing/2014/main" id="{294B6821-9614-45C2-B583-23A2A0B2C1E5}"/>
              </a:ext>
            </a:extLst>
          </p:cNvPr>
          <p:cNvSpPr>
            <a:spLocks xmlns:a="http://schemas.openxmlformats.org/drawingml/2006/main" noGrp="1"/>
          </p:cNvSpPr>
          <p:nvPr/>
        </p:nvSpPr>
        <p:spPr>
          <a:xfrm xmlns:a="http://schemas.openxmlformats.org/drawingml/2006/main">
            <a:off x="819150" y="5981700"/>
            <a:ext cx="7143750" cy="742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800" b="1" i="0">
                <a:solidFill>
                  <a:srgbClr val="0F8C68"/>
                </a:solidFill>
              </a:defRPr>
            </a:pPr>
            <a:r>
              <a:rPr sz="4800" b="1" i="0">
                <a:solidFill>
                  <a:srgbClr val="0F8C68"/>
                </a:solidFill>
              </a:rPr>
              <a:t>Precision is rare.</a:t>
            </a:r>
          </a:p>
        </p:txBody>
      </p:sp>
      <p:sp>
        <p:nvSpPr>
          <p:cNvPr id="7" name="paradox-c">
            <a:extLst xmlns:a="http://schemas.openxmlformats.org/drawingml/2006/main">
              <a:ext uri="{FF2B5EF4-FFF2-40B4-BE49-F238E27FC236}">
                <a16:creationId xmlns:a16="http://schemas.microsoft.com/office/drawing/2014/main" id="{5A1C3F73-7556-4FDB-8DDB-4B4E2BF2F621}"/>
              </a:ext>
            </a:extLst>
          </p:cNvPr>
          <p:cNvSpPr>
            <a:spLocks xmlns:a="http://schemas.openxmlformats.org/drawingml/2006/main" noGrp="1"/>
          </p:cNvSpPr>
          <p:nvPr/>
        </p:nvSpPr>
        <p:spPr>
          <a:xfrm xmlns:a="http://schemas.openxmlformats.org/drawingml/2006/main">
            <a:off x="819150" y="6934200"/>
            <a:ext cx="7143750" cy="742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800" b="1" i="0">
                <a:solidFill>
                  <a:srgbClr val="4CA7C5"/>
                </a:solidFill>
              </a:defRPr>
            </a:pPr>
            <a:r>
              <a:rPr sz="4800" b="1" i="0">
                <a:solidFill>
                  <a:srgbClr val="4CA7C5"/>
                </a:solidFill>
              </a:rPr>
              <a:t>Trust is cultural.</a:t>
            </a:r>
          </a:p>
        </p:txBody>
      </p:sp>
      <p:sp>
        <p:nvSpPr>
          <p:cNvPr id="8" name="open-list-dot-0">
            <a:extLst xmlns:a="http://schemas.openxmlformats.org/drawingml/2006/main">
              <a:ext uri="{FF2B5EF4-FFF2-40B4-BE49-F238E27FC236}">
                <a16:creationId xmlns:a16="http://schemas.microsoft.com/office/drawing/2014/main" id="{5990E48D-DD84-4FA4-858F-D6FC9724F37B}"/>
              </a:ext>
            </a:extLst>
          </p:cNvPr>
          <p:cNvSpPr>
            <a:spLocks xmlns:a="http://schemas.openxmlformats.org/drawingml/2006/main" noGrp="1"/>
          </p:cNvSpPr>
          <p:nvPr/>
        </p:nvSpPr>
        <p:spPr>
          <a:xfrm xmlns:a="http://schemas.openxmlformats.org/drawingml/2006/main">
            <a:off x="8724900" y="4953000"/>
            <a:ext cx="190500" cy="190500"/>
          </a:xfrm>
          <a:prstGeom xmlns:a="http://schemas.openxmlformats.org/drawingml/2006/main" prst="ellipse">
            <a:avLst/>
          </a:prstGeom>
          <a:solidFill xmlns:a="http://schemas.openxmlformats.org/drawingml/2006/main">
            <a:srgbClr val="F06C3E"/>
          </a:solidFill>
        </p:spPr>
      </p:sp>
      <p:sp>
        <p:nvSpPr>
          <p:cNvPr id="9" name="open-list-label-0">
            <a:extLst xmlns:a="http://schemas.openxmlformats.org/drawingml/2006/main">
              <a:ext uri="{FF2B5EF4-FFF2-40B4-BE49-F238E27FC236}">
                <a16:creationId xmlns:a16="http://schemas.microsoft.com/office/drawing/2014/main" id="{747F6BF5-70CC-4E78-B6B2-16423D3E6DFB}"/>
              </a:ext>
            </a:extLst>
          </p:cNvPr>
          <p:cNvSpPr>
            <a:spLocks xmlns:a="http://schemas.openxmlformats.org/drawingml/2006/main" noGrp="1"/>
          </p:cNvSpPr>
          <p:nvPr/>
        </p:nvSpPr>
        <p:spPr>
          <a:xfrm xmlns:a="http://schemas.openxmlformats.org/drawingml/2006/main">
            <a:off x="9086850" y="4953000"/>
            <a:ext cx="8382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i="0">
                <a:solidFill>
                  <a:srgbClr val="12211D"/>
                </a:solidFill>
              </a:defRPr>
            </a:pPr>
            <a:r>
              <a:rPr sz="2400" b="1" i="0">
                <a:solidFill>
                  <a:srgbClr val="12211D"/>
                </a:solidFill>
              </a:rPr>
              <a:t>Software sees intent</a:t>
            </a:r>
          </a:p>
        </p:txBody>
      </p:sp>
      <p:sp>
        <p:nvSpPr>
          <p:cNvPr id="10" name="open-list-copy-text-0">
            <a:extLst xmlns:a="http://schemas.openxmlformats.org/drawingml/2006/main">
              <a:ext uri="{FF2B5EF4-FFF2-40B4-BE49-F238E27FC236}">
                <a16:creationId xmlns:a16="http://schemas.microsoft.com/office/drawing/2014/main" id="{BB0DDC40-860E-4F06-8735-5670DD5FCE13}"/>
              </a:ext>
            </a:extLst>
          </p:cNvPr>
          <p:cNvSpPr>
            <a:spLocks xmlns:a="http://schemas.openxmlformats.org/drawingml/2006/main" noGrp="1"/>
          </p:cNvSpPr>
          <p:nvPr/>
        </p:nvSpPr>
        <p:spPr>
          <a:xfrm xmlns:a="http://schemas.openxmlformats.org/drawingml/2006/main">
            <a:off x="9086850" y="5372100"/>
            <a:ext cx="44577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0E3832"/>
                </a:solidFill>
              </a:defRPr>
            </a:pPr>
            <a:r>
              <a:rPr sz="1800" b="0" i="0">
                <a:solidFill>
                  <a:srgbClr val="0E3832"/>
                </a:solidFill>
              </a:rPr>
              <a:t>Allergies, meds, goals, sleep, stress, and activity.</a:t>
            </a:r>
          </a:p>
        </p:txBody>
      </p:sp>
      <p:sp>
        <p:nvSpPr>
          <p:cNvPr id="11" name="open-list-dot-1">
            <a:extLst xmlns:a="http://schemas.openxmlformats.org/drawingml/2006/main">
              <a:ext uri="{FF2B5EF4-FFF2-40B4-BE49-F238E27FC236}">
                <a16:creationId xmlns:a16="http://schemas.microsoft.com/office/drawing/2014/main" id="{52D83E0A-F6A9-4395-A057-C71148AB6523}"/>
              </a:ext>
            </a:extLst>
          </p:cNvPr>
          <p:cNvSpPr>
            <a:spLocks xmlns:a="http://schemas.openxmlformats.org/drawingml/2006/main" noGrp="1"/>
          </p:cNvSpPr>
          <p:nvPr/>
        </p:nvSpPr>
        <p:spPr>
          <a:xfrm xmlns:a="http://schemas.openxmlformats.org/drawingml/2006/main">
            <a:off x="8724900" y="6172200"/>
            <a:ext cx="190500" cy="190500"/>
          </a:xfrm>
          <a:prstGeom xmlns:a="http://schemas.openxmlformats.org/drawingml/2006/main" prst="ellipse">
            <a:avLst/>
          </a:prstGeom>
          <a:solidFill xmlns:a="http://schemas.openxmlformats.org/drawingml/2006/main">
            <a:srgbClr val="F06C3E"/>
          </a:solidFill>
        </p:spPr>
      </p:sp>
      <p:sp>
        <p:nvSpPr>
          <p:cNvPr id="12" name="open-list-label-1">
            <a:extLst xmlns:a="http://schemas.openxmlformats.org/drawingml/2006/main">
              <a:ext uri="{FF2B5EF4-FFF2-40B4-BE49-F238E27FC236}">
                <a16:creationId xmlns:a16="http://schemas.microsoft.com/office/drawing/2014/main" id="{0CB64270-0A67-4673-A439-A481AEAEBFE7}"/>
              </a:ext>
            </a:extLst>
          </p:cNvPr>
          <p:cNvSpPr>
            <a:spLocks xmlns:a="http://schemas.openxmlformats.org/drawingml/2006/main" noGrp="1"/>
          </p:cNvSpPr>
          <p:nvPr/>
        </p:nvSpPr>
        <p:spPr>
          <a:xfrm xmlns:a="http://schemas.openxmlformats.org/drawingml/2006/main">
            <a:off x="9086850" y="6153150"/>
            <a:ext cx="8382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i="0">
                <a:solidFill>
                  <a:srgbClr val="12211D"/>
                </a:solidFill>
              </a:defRPr>
            </a:pPr>
            <a:r>
              <a:rPr sz="2400" b="1" i="0">
                <a:solidFill>
                  <a:srgbClr val="12211D"/>
                </a:solidFill>
              </a:rPr>
              <a:t>Hardware sees the meal</a:t>
            </a:r>
          </a:p>
        </p:txBody>
      </p:sp>
      <p:sp>
        <p:nvSpPr>
          <p:cNvPr id="13" name="open-list-copy-text-1">
            <a:extLst xmlns:a="http://schemas.openxmlformats.org/drawingml/2006/main">
              <a:ext uri="{FF2B5EF4-FFF2-40B4-BE49-F238E27FC236}">
                <a16:creationId xmlns:a16="http://schemas.microsoft.com/office/drawing/2014/main" id="{26058D39-1E91-4E2B-8957-D84254E76B69}"/>
              </a:ext>
            </a:extLst>
          </p:cNvPr>
          <p:cNvSpPr>
            <a:spLocks xmlns:a="http://schemas.openxmlformats.org/drawingml/2006/main" noGrp="1"/>
          </p:cNvSpPr>
          <p:nvPr/>
        </p:nvSpPr>
        <p:spPr>
          <a:xfrm xmlns:a="http://schemas.openxmlformats.org/drawingml/2006/main">
            <a:off x="9086850" y="6572250"/>
            <a:ext cx="53721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0E3832"/>
                </a:solidFill>
              </a:defRPr>
            </a:pPr>
            <a:r>
              <a:rPr sz="1800" b="0" i="0">
                <a:solidFill>
                  <a:srgbClr val="0E3832"/>
                </a:solidFill>
              </a:rPr>
              <a:t>Macros, weight, sodium signals, and behavior in real time.</a:t>
            </a:r>
          </a:p>
        </p:txBody>
      </p:sp>
      <p:sp>
        <p:nvSpPr>
          <p:cNvPr id="14" name="open-list-dot-2">
            <a:extLst xmlns:a="http://schemas.openxmlformats.org/drawingml/2006/main">
              <a:ext uri="{FF2B5EF4-FFF2-40B4-BE49-F238E27FC236}">
                <a16:creationId xmlns:a16="http://schemas.microsoft.com/office/drawing/2014/main" id="{641E834C-6384-4566-8175-FE9D146F0BA1}"/>
              </a:ext>
            </a:extLst>
          </p:cNvPr>
          <p:cNvSpPr>
            <a:spLocks xmlns:a="http://schemas.openxmlformats.org/drawingml/2006/main" noGrp="1"/>
          </p:cNvSpPr>
          <p:nvPr/>
        </p:nvSpPr>
        <p:spPr>
          <a:xfrm xmlns:a="http://schemas.openxmlformats.org/drawingml/2006/main">
            <a:off x="8724900" y="7086600"/>
            <a:ext cx="190500" cy="190500"/>
          </a:xfrm>
          <a:prstGeom xmlns:a="http://schemas.openxmlformats.org/drawingml/2006/main" prst="ellipse">
            <a:avLst/>
          </a:prstGeom>
          <a:solidFill xmlns:a="http://schemas.openxmlformats.org/drawingml/2006/main">
            <a:srgbClr val="F06C3E"/>
          </a:solidFill>
        </p:spPr>
      </p:sp>
      <p:sp>
        <p:nvSpPr>
          <p:cNvPr id="15" name="open-list-label-2">
            <a:extLst xmlns:a="http://schemas.openxmlformats.org/drawingml/2006/main">
              <a:ext uri="{FF2B5EF4-FFF2-40B4-BE49-F238E27FC236}">
                <a16:creationId xmlns:a16="http://schemas.microsoft.com/office/drawing/2014/main" id="{703DCB21-FB4D-4628-A421-06C56C73E30A}"/>
              </a:ext>
            </a:extLst>
          </p:cNvPr>
          <p:cNvSpPr>
            <a:spLocks xmlns:a="http://schemas.openxmlformats.org/drawingml/2006/main" noGrp="1"/>
          </p:cNvSpPr>
          <p:nvPr/>
        </p:nvSpPr>
        <p:spPr>
          <a:xfrm xmlns:a="http://schemas.openxmlformats.org/drawingml/2006/main">
            <a:off x="9086850" y="7086600"/>
            <a:ext cx="8382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i="0">
                <a:solidFill>
                  <a:srgbClr val="12211D"/>
                </a:solidFill>
              </a:defRPr>
            </a:pPr>
            <a:r>
              <a:rPr sz="2400" b="1" i="0">
                <a:solidFill>
                  <a:srgbClr val="12211D"/>
                </a:solidFill>
              </a:rPr>
              <a:t>Community keeps it human</a:t>
            </a:r>
          </a:p>
        </p:txBody>
      </p:sp>
      <p:sp>
        <p:nvSpPr>
          <p:cNvPr id="16" name="open-list-copy-text-2">
            <a:extLst xmlns:a="http://schemas.openxmlformats.org/drawingml/2006/main">
              <a:ext uri="{FF2B5EF4-FFF2-40B4-BE49-F238E27FC236}">
                <a16:creationId xmlns:a16="http://schemas.microsoft.com/office/drawing/2014/main" id="{D881AFE0-878F-44C6-9ED7-87EBCBC30E0E}"/>
              </a:ext>
            </a:extLst>
          </p:cNvPr>
          <p:cNvSpPr>
            <a:spLocks xmlns:a="http://schemas.openxmlformats.org/drawingml/2006/main" noGrp="1"/>
          </p:cNvSpPr>
          <p:nvPr/>
        </p:nvSpPr>
        <p:spPr>
          <a:xfrm xmlns:a="http://schemas.openxmlformats.org/drawingml/2006/main">
            <a:off x="9086850" y="7505700"/>
            <a:ext cx="56769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0E3832"/>
                </a:solidFill>
              </a:defRPr>
            </a:pPr>
            <a:r>
              <a:rPr sz="1800" b="0" i="0">
                <a:solidFill>
                  <a:srgbClr val="0E3832"/>
                </a:solidFill>
              </a:rPr>
              <a:t>Thai healing practices make the plan feel familiar, not clinical.</a:t>
            </a:r>
          </a:p>
        </p:txBody>
      </p:sp>
      <p:sp>
        <p:nvSpPr>
          <p:cNvPr id="17" name="footer-label-2">
            <a:extLst xmlns:a="http://schemas.openxmlformats.org/drawingml/2006/main">
              <a:ext uri="{FF2B5EF4-FFF2-40B4-BE49-F238E27FC236}">
                <a16:creationId xmlns:a16="http://schemas.microsoft.com/office/drawing/2014/main" id="{280A6627-5E6A-41E6-BB29-A15FB6FD73D5}"/>
              </a:ext>
            </a:extLst>
          </p:cNvPr>
          <p:cNvSpPr>
            <a:spLocks xmlns:a="http://schemas.openxmlformats.org/drawingml/2006/main" noGrp="1"/>
          </p:cNvSpPr>
          <p:nvPr/>
        </p:nvSpPr>
        <p:spPr>
          <a:xfrm xmlns:a="http://schemas.openxmlformats.org/drawingml/2006/main">
            <a:off x="819150" y="9505950"/>
            <a:ext cx="23050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i="0">
                <a:solidFill>
                  <a:srgbClr val="6F7C73"/>
                </a:solidFill>
              </a:defRPr>
            </a:pPr>
            <a:r>
              <a:rPr sz="1350" b="0" i="0">
                <a:solidFill>
                  <a:srgbClr val="6F7C73"/>
                </a:solidFill>
              </a:rPr>
              <a:t>OmniWell Thai | Hackathon Pitch</a:t>
            </a:r>
          </a:p>
        </p:txBody>
      </p:sp>
      <p:sp>
        <p:nvSpPr>
          <p:cNvPr id="18" name="footer-number-2">
            <a:extLst xmlns:a="http://schemas.openxmlformats.org/drawingml/2006/main">
              <a:ext uri="{FF2B5EF4-FFF2-40B4-BE49-F238E27FC236}">
                <a16:creationId xmlns:a16="http://schemas.microsoft.com/office/drawing/2014/main" id="{6B70DC99-4576-4CF6-BB99-22DA914A163F}"/>
              </a:ext>
            </a:extLst>
          </p:cNvPr>
          <p:cNvSpPr>
            <a:spLocks xmlns:a="http://schemas.openxmlformats.org/drawingml/2006/main" noGrp="1"/>
          </p:cNvSpPr>
          <p:nvPr/>
        </p:nvSpPr>
        <p:spPr>
          <a:xfrm xmlns:a="http://schemas.openxmlformats.org/drawingml/2006/main">
            <a:off x="16935450" y="9505950"/>
            <a:ext cx="5334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i="0">
                <a:solidFill>
                  <a:srgbClr val="6F7C73"/>
                </a:solidFill>
              </a:defRPr>
            </a:pPr>
            <a:r>
              <a:rPr sz="1350" b="1" i="0">
                <a:solidFill>
                  <a:srgbClr val="6F7C73"/>
                </a:solidFill>
              </a:rPr>
              <a:t>02</a:t>
            </a:r>
          </a:p>
        </p:txBody>
      </p:sp>
    </p:spTree>
    <p:extLst>
      <p:ext uri="{BB962C8B-B14F-4D97-AF65-F5344CB8AC3E}">
        <p14:creationId xmlns:p14="http://schemas.microsoft.com/office/powerpoint/2010/main" val="197438571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4A5A6839-031F-45E6-B8C8-DBE5A7BFC2D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8F1E1"/>
          </a:solidFill>
        </p:spPr>
      </p:sp>
      <p:sp>
        <p:nvSpPr>
          <p:cNvPr id="2" name="eyebrow-3">
            <a:extLst xmlns:a="http://schemas.openxmlformats.org/drawingml/2006/main">
              <a:ext uri="{FF2B5EF4-FFF2-40B4-BE49-F238E27FC236}">
                <a16:creationId xmlns:a16="http://schemas.microsoft.com/office/drawing/2014/main" id="{6BDD30F0-FFFA-4D62-9014-5DB0F04EDE71}"/>
              </a:ext>
            </a:extLst>
          </p:cNvPr>
          <p:cNvSpPr>
            <a:spLocks xmlns:a="http://schemas.openxmlformats.org/drawingml/2006/main" noGrp="1"/>
          </p:cNvSpPr>
          <p:nvPr/>
        </p:nvSpPr>
        <p:spPr>
          <a:xfrm xmlns:a="http://schemas.openxmlformats.org/drawingml/2006/main">
            <a:off x="819150" y="590550"/>
            <a:ext cx="35242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0F8C68"/>
                </a:solidFill>
              </a:defRPr>
            </a:pPr>
            <a:r>
              <a:rPr sz="1500" b="1" i="0">
                <a:solidFill>
                  <a:srgbClr val="0F8C68"/>
                </a:solidFill>
              </a:rPr>
              <a:t>PROBLEM | WELLNESS BREAKS AT THE MEAL</a:t>
            </a:r>
          </a:p>
        </p:txBody>
      </p:sp>
      <p:sp>
        <p:nvSpPr>
          <p:cNvPr id="3" name="slide-title-3">
            <a:extLst xmlns:a="http://schemas.openxmlformats.org/drawingml/2006/main">
              <a:ext uri="{FF2B5EF4-FFF2-40B4-BE49-F238E27FC236}">
                <a16:creationId xmlns:a16="http://schemas.microsoft.com/office/drawing/2014/main" id="{DEB2F0ED-793B-4F00-B3A2-F58BDF012027}"/>
              </a:ext>
            </a:extLst>
          </p:cNvPr>
          <p:cNvSpPr>
            <a:spLocks xmlns:a="http://schemas.openxmlformats.org/drawingml/2006/main" noGrp="1"/>
          </p:cNvSpPr>
          <p:nvPr/>
        </p:nvSpPr>
        <p:spPr>
          <a:xfrm xmlns:a="http://schemas.openxmlformats.org/drawingml/2006/main">
            <a:off x="819150" y="1219200"/>
            <a:ext cx="12172950" cy="1428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i="0">
                <a:solidFill>
                  <a:srgbClr val="12211D"/>
                </a:solidFill>
              </a:defRPr>
            </a:pPr>
            <a:r>
              <a:rPr sz="4650" b="1" i="0">
                <a:solidFill>
                  <a:srgbClr val="12211D"/>
                </a:solidFill>
              </a:rPr>
              <a:t>Thailand does not need generic wellness. It needs context-aware healing.</a:t>
            </a:r>
          </a:p>
        </p:txBody>
      </p:sp>
      <p:sp>
        <p:nvSpPr>
          <p:cNvPr id="4" name="slide-subtitle-3">
            <a:extLst xmlns:a="http://schemas.openxmlformats.org/drawingml/2006/main">
              <a:ext uri="{FF2B5EF4-FFF2-40B4-BE49-F238E27FC236}">
                <a16:creationId xmlns:a16="http://schemas.microsoft.com/office/drawing/2014/main" id="{725A4928-5C5C-442E-AB9D-96B7E889D305}"/>
              </a:ext>
            </a:extLst>
          </p:cNvPr>
          <p:cNvSpPr>
            <a:spLocks xmlns:a="http://schemas.openxmlformats.org/drawingml/2006/main" noGrp="1"/>
          </p:cNvSpPr>
          <p:nvPr/>
        </p:nvSpPr>
        <p:spPr>
          <a:xfrm xmlns:a="http://schemas.openxmlformats.org/drawingml/2006/main">
            <a:off x="819150" y="2800350"/>
            <a:ext cx="1043940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i="0">
                <a:solidFill>
                  <a:srgbClr val="0E3832"/>
                </a:solidFill>
              </a:defRPr>
            </a:pPr>
            <a:r>
              <a:rPr sz="2100" b="0" i="0">
                <a:solidFill>
                  <a:srgbClr val="0E3832"/>
                </a:solidFill>
              </a:rPr>
              <a:t>Modern health data is scattered across apps, wearables, weather, pollution, clinics, and memory.</a:t>
            </a:r>
          </a:p>
        </p:txBody>
      </p:sp>
      <p:sp>
        <p:nvSpPr>
          <p:cNvPr id="5" name="problem-head-1">
            <a:extLst xmlns:a="http://schemas.openxmlformats.org/drawingml/2006/main">
              <a:ext uri="{FF2B5EF4-FFF2-40B4-BE49-F238E27FC236}">
                <a16:creationId xmlns:a16="http://schemas.microsoft.com/office/drawing/2014/main" id="{9748CAFA-C398-43BE-96FA-BC9D37AEE36F}"/>
              </a:ext>
            </a:extLst>
          </p:cNvPr>
          <p:cNvSpPr>
            <a:spLocks xmlns:a="http://schemas.openxmlformats.org/drawingml/2006/main" noGrp="1"/>
          </p:cNvSpPr>
          <p:nvPr/>
        </p:nvSpPr>
        <p:spPr>
          <a:xfrm xmlns:a="http://schemas.openxmlformats.org/drawingml/2006/main">
            <a:off x="819150" y="5772150"/>
            <a:ext cx="52768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i="0">
                <a:solidFill>
                  <a:srgbClr val="0F8C68"/>
                </a:solidFill>
              </a:defRPr>
            </a:pPr>
            <a:r>
              <a:rPr sz="2850" b="1" i="0">
                <a:solidFill>
                  <a:srgbClr val="0F8C68"/>
                </a:solidFill>
              </a:rPr>
              <a:t>Food is local</a:t>
            </a:r>
          </a:p>
        </p:txBody>
      </p:sp>
      <p:sp>
        <p:nvSpPr>
          <p:cNvPr id="6" name="problem-body-1">
            <a:extLst xmlns:a="http://schemas.openxmlformats.org/drawingml/2006/main">
              <a:ext uri="{FF2B5EF4-FFF2-40B4-BE49-F238E27FC236}">
                <a16:creationId xmlns:a16="http://schemas.microsoft.com/office/drawing/2014/main" id="{93AD7477-FF70-4051-B579-68DAB04BB530}"/>
              </a:ext>
            </a:extLst>
          </p:cNvPr>
          <p:cNvSpPr>
            <a:spLocks xmlns:a="http://schemas.openxmlformats.org/drawingml/2006/main" noGrp="1"/>
          </p:cNvSpPr>
          <p:nvPr/>
        </p:nvSpPr>
        <p:spPr>
          <a:xfrm xmlns:a="http://schemas.openxmlformats.org/drawingml/2006/main">
            <a:off x="819150" y="6343650"/>
            <a:ext cx="5276850" cy="838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0E3832"/>
                </a:solidFill>
              </a:defRPr>
            </a:pPr>
            <a:r>
              <a:rPr sz="1800" b="0" i="0">
                <a:solidFill>
                  <a:srgbClr val="0E3832"/>
                </a:solidFill>
              </a:rPr>
              <a:t>Recommendations fail when they ignore Thai ingredients, street food, family meals, and budget reality.</a:t>
            </a:r>
          </a:p>
        </p:txBody>
      </p:sp>
      <p:sp>
        <p:nvSpPr>
          <p:cNvPr id="7" name="problem-head-2">
            <a:extLst xmlns:a="http://schemas.openxmlformats.org/drawingml/2006/main">
              <a:ext uri="{FF2B5EF4-FFF2-40B4-BE49-F238E27FC236}">
                <a16:creationId xmlns:a16="http://schemas.microsoft.com/office/drawing/2014/main" id="{31E92EB2-7C5E-4A73-A878-C3767779E737}"/>
              </a:ext>
            </a:extLst>
          </p:cNvPr>
          <p:cNvSpPr>
            <a:spLocks xmlns:a="http://schemas.openxmlformats.org/drawingml/2006/main" noGrp="1"/>
          </p:cNvSpPr>
          <p:nvPr/>
        </p:nvSpPr>
        <p:spPr>
          <a:xfrm xmlns:a="http://schemas.openxmlformats.org/drawingml/2006/main">
            <a:off x="6496050" y="5943600"/>
            <a:ext cx="52768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i="0">
                <a:solidFill>
                  <a:srgbClr val="F06C3E"/>
                </a:solidFill>
              </a:defRPr>
            </a:pPr>
            <a:r>
              <a:rPr sz="2700" b="1" i="0">
                <a:solidFill>
                  <a:srgbClr val="F06C3E"/>
                </a:solidFill>
              </a:rPr>
              <a:t>Risk is dynamic</a:t>
            </a:r>
          </a:p>
        </p:txBody>
      </p:sp>
      <p:sp>
        <p:nvSpPr>
          <p:cNvPr id="8" name="problem-body-2">
            <a:extLst xmlns:a="http://schemas.openxmlformats.org/drawingml/2006/main">
              <a:ext uri="{FF2B5EF4-FFF2-40B4-BE49-F238E27FC236}">
                <a16:creationId xmlns:a16="http://schemas.microsoft.com/office/drawing/2014/main" id="{93F7E8C2-5983-499A-A5A2-0E0038DC7110}"/>
              </a:ext>
            </a:extLst>
          </p:cNvPr>
          <p:cNvSpPr>
            <a:spLocks xmlns:a="http://schemas.openxmlformats.org/drawingml/2006/main" noGrp="1"/>
          </p:cNvSpPr>
          <p:nvPr/>
        </p:nvSpPr>
        <p:spPr>
          <a:xfrm xmlns:a="http://schemas.openxmlformats.org/drawingml/2006/main">
            <a:off x="6496050" y="6496050"/>
            <a:ext cx="527685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i="0">
                <a:solidFill>
                  <a:srgbClr val="0E3832"/>
                </a:solidFill>
              </a:defRPr>
            </a:pPr>
            <a:r>
              <a:rPr sz="1725" b="0" i="0">
                <a:solidFill>
                  <a:srgbClr val="0E3832"/>
                </a:solidFill>
              </a:rPr>
              <a:t>Sleep, stress, exercise load, PM2.5, UV, medication, and allergies change the right choice every day.</a:t>
            </a:r>
          </a:p>
        </p:txBody>
      </p:sp>
      <p:sp>
        <p:nvSpPr>
          <p:cNvPr id="9" name="problem-head-3">
            <a:extLst xmlns:a="http://schemas.openxmlformats.org/drawingml/2006/main">
              <a:ext uri="{FF2B5EF4-FFF2-40B4-BE49-F238E27FC236}">
                <a16:creationId xmlns:a16="http://schemas.microsoft.com/office/drawing/2014/main" id="{B605D8AA-1477-47C3-99B5-B132A8381E14}"/>
              </a:ext>
            </a:extLst>
          </p:cNvPr>
          <p:cNvSpPr>
            <a:spLocks xmlns:a="http://schemas.openxmlformats.org/drawingml/2006/main" noGrp="1"/>
          </p:cNvSpPr>
          <p:nvPr/>
        </p:nvSpPr>
        <p:spPr>
          <a:xfrm xmlns:a="http://schemas.openxmlformats.org/drawingml/2006/main">
            <a:off x="12192000" y="5943600"/>
            <a:ext cx="527685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i="0">
                <a:solidFill>
                  <a:srgbClr val="4CA7C5"/>
                </a:solidFill>
              </a:defRPr>
            </a:pPr>
            <a:r>
              <a:rPr sz="2700" b="1" i="0">
                <a:solidFill>
                  <a:srgbClr val="4CA7C5"/>
                </a:solidFill>
              </a:rPr>
              <a:t>Behavior is embodied</a:t>
            </a:r>
          </a:p>
        </p:txBody>
      </p:sp>
      <p:sp>
        <p:nvSpPr>
          <p:cNvPr id="10" name="problem-body-3">
            <a:extLst xmlns:a="http://schemas.openxmlformats.org/drawingml/2006/main">
              <a:ext uri="{FF2B5EF4-FFF2-40B4-BE49-F238E27FC236}">
                <a16:creationId xmlns:a16="http://schemas.microsoft.com/office/drawing/2014/main" id="{7D36F834-9516-4CA4-8D3D-B0F828513A5D}"/>
              </a:ext>
            </a:extLst>
          </p:cNvPr>
          <p:cNvSpPr>
            <a:spLocks xmlns:a="http://schemas.openxmlformats.org/drawingml/2006/main" noGrp="1"/>
          </p:cNvSpPr>
          <p:nvPr/>
        </p:nvSpPr>
        <p:spPr>
          <a:xfrm xmlns:a="http://schemas.openxmlformats.org/drawingml/2006/main">
            <a:off x="12192000" y="6496050"/>
            <a:ext cx="527685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i="0">
                <a:solidFill>
                  <a:srgbClr val="0E3832"/>
                </a:solidFill>
              </a:defRPr>
            </a:pPr>
            <a:r>
              <a:rPr sz="1725" b="0" i="0">
                <a:solidFill>
                  <a:srgbClr val="0E3832"/>
                </a:solidFill>
              </a:rPr>
              <a:t>Health decisions happen in the hand, the spoon, the table, and the community around the person.</a:t>
            </a:r>
          </a:p>
        </p:txBody>
      </p:sp>
      <p:sp>
        <p:nvSpPr>
          <p:cNvPr id="11" name="footer-label-3">
            <a:extLst xmlns:a="http://schemas.openxmlformats.org/drawingml/2006/main">
              <a:ext uri="{FF2B5EF4-FFF2-40B4-BE49-F238E27FC236}">
                <a16:creationId xmlns:a16="http://schemas.microsoft.com/office/drawing/2014/main" id="{FED96FBD-9193-4904-B39F-29DBB3007B45}"/>
              </a:ext>
            </a:extLst>
          </p:cNvPr>
          <p:cNvSpPr>
            <a:spLocks xmlns:a="http://schemas.openxmlformats.org/drawingml/2006/main" noGrp="1"/>
          </p:cNvSpPr>
          <p:nvPr/>
        </p:nvSpPr>
        <p:spPr>
          <a:xfrm xmlns:a="http://schemas.openxmlformats.org/drawingml/2006/main">
            <a:off x="819150" y="9505950"/>
            <a:ext cx="23050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i="0">
                <a:solidFill>
                  <a:srgbClr val="6F7C73"/>
                </a:solidFill>
              </a:defRPr>
            </a:pPr>
            <a:r>
              <a:rPr sz="1350" b="0" i="0">
                <a:solidFill>
                  <a:srgbClr val="6F7C73"/>
                </a:solidFill>
              </a:rPr>
              <a:t>OmniWell Thai | Hackathon Pitch</a:t>
            </a:r>
          </a:p>
        </p:txBody>
      </p:sp>
      <p:sp>
        <p:nvSpPr>
          <p:cNvPr id="12" name="footer-number-3">
            <a:extLst xmlns:a="http://schemas.openxmlformats.org/drawingml/2006/main">
              <a:ext uri="{FF2B5EF4-FFF2-40B4-BE49-F238E27FC236}">
                <a16:creationId xmlns:a16="http://schemas.microsoft.com/office/drawing/2014/main" id="{D8B65015-7AE0-4F8B-930E-DAE0A9EF5CA4}"/>
              </a:ext>
            </a:extLst>
          </p:cNvPr>
          <p:cNvSpPr>
            <a:spLocks xmlns:a="http://schemas.openxmlformats.org/drawingml/2006/main" noGrp="1"/>
          </p:cNvSpPr>
          <p:nvPr/>
        </p:nvSpPr>
        <p:spPr>
          <a:xfrm xmlns:a="http://schemas.openxmlformats.org/drawingml/2006/main">
            <a:off x="16935450" y="9505950"/>
            <a:ext cx="5334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i="0">
                <a:solidFill>
                  <a:srgbClr val="6F7C73"/>
                </a:solidFill>
              </a:defRPr>
            </a:pPr>
            <a:r>
              <a:rPr sz="1350" b="1" i="0">
                <a:solidFill>
                  <a:srgbClr val="6F7C73"/>
                </a:solidFill>
              </a:rPr>
              <a:t>03</a:t>
            </a:r>
          </a:p>
        </p:txBody>
      </p:sp>
    </p:spTree>
    <p:extLst>
      <p:ext uri="{BB962C8B-B14F-4D97-AF65-F5344CB8AC3E}">
        <p14:creationId xmlns:p14="http://schemas.microsoft.com/office/powerpoint/2010/main" val="62362149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F480D840-E7DF-413C-BF36-58DF2286F30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8F1E1"/>
          </a:solidFill>
        </p:spPr>
      </p:sp>
      <p:sp>
        <p:nvSpPr>
          <p:cNvPr id="2" name="eyebrow-4">
            <a:extLst xmlns:a="http://schemas.openxmlformats.org/drawingml/2006/main">
              <a:ext uri="{FF2B5EF4-FFF2-40B4-BE49-F238E27FC236}">
                <a16:creationId xmlns:a16="http://schemas.microsoft.com/office/drawing/2014/main" id="{84D0273C-FA96-4A5A-ACCB-85663AA663C5}"/>
              </a:ext>
            </a:extLst>
          </p:cNvPr>
          <p:cNvSpPr>
            <a:spLocks xmlns:a="http://schemas.openxmlformats.org/drawingml/2006/main" noGrp="1"/>
          </p:cNvSpPr>
          <p:nvPr/>
        </p:nvSpPr>
        <p:spPr>
          <a:xfrm xmlns:a="http://schemas.openxmlformats.org/drawingml/2006/main">
            <a:off x="819150" y="590550"/>
            <a:ext cx="18288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0F8C68"/>
                </a:solidFill>
              </a:defRPr>
            </a:pPr>
            <a:r>
              <a:rPr sz="1500" b="1" i="0">
                <a:solidFill>
                  <a:srgbClr val="0F8C68"/>
                </a:solidFill>
              </a:rPr>
              <a:t>SOLUTION | THE TRIAD</a:t>
            </a:r>
          </a:p>
        </p:txBody>
      </p:sp>
      <p:sp>
        <p:nvSpPr>
          <p:cNvPr id="3" name="slide-title-4">
            <a:extLst xmlns:a="http://schemas.openxmlformats.org/drawingml/2006/main">
              <a:ext uri="{FF2B5EF4-FFF2-40B4-BE49-F238E27FC236}">
                <a16:creationId xmlns:a16="http://schemas.microsoft.com/office/drawing/2014/main" id="{73690351-1E14-461F-BA8F-E4B949A95FDE}"/>
              </a:ext>
            </a:extLst>
          </p:cNvPr>
          <p:cNvSpPr>
            <a:spLocks xmlns:a="http://schemas.openxmlformats.org/drawingml/2006/main" noGrp="1"/>
          </p:cNvSpPr>
          <p:nvPr/>
        </p:nvSpPr>
        <p:spPr>
          <a:xfrm xmlns:a="http://schemas.openxmlformats.org/drawingml/2006/main">
            <a:off x="819150" y="1219200"/>
            <a:ext cx="11201400" cy="1428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i="0">
                <a:solidFill>
                  <a:srgbClr val="12211D"/>
                </a:solidFill>
              </a:defRPr>
            </a:pPr>
            <a:r>
              <a:rPr sz="4650" b="1" i="0">
                <a:solidFill>
                  <a:srgbClr val="12211D"/>
                </a:solidFill>
              </a:rPr>
              <a:t>OmniWell Thai joins the three things wellness usually separates.</a:t>
            </a:r>
          </a:p>
        </p:txBody>
      </p:sp>
      <p:sp>
        <p:nvSpPr>
          <p:cNvPr id="4" name="slide-subtitle-4">
            <a:extLst xmlns:a="http://schemas.openxmlformats.org/drawingml/2006/main">
              <a:ext uri="{FF2B5EF4-FFF2-40B4-BE49-F238E27FC236}">
                <a16:creationId xmlns:a16="http://schemas.microsoft.com/office/drawing/2014/main" id="{ACCB568B-A2A3-4409-8961-7E6BB14F96AA}"/>
              </a:ext>
            </a:extLst>
          </p:cNvPr>
          <p:cNvSpPr>
            <a:spLocks xmlns:a="http://schemas.openxmlformats.org/drawingml/2006/main" noGrp="1"/>
          </p:cNvSpPr>
          <p:nvPr/>
        </p:nvSpPr>
        <p:spPr>
          <a:xfrm xmlns:a="http://schemas.openxmlformats.org/drawingml/2006/main">
            <a:off x="819150" y="2800350"/>
            <a:ext cx="105156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i="0">
                <a:solidFill>
                  <a:srgbClr val="0E3832"/>
                </a:solidFill>
              </a:defRPr>
            </a:pPr>
            <a:r>
              <a:rPr sz="2100" b="0" i="0">
                <a:solidFill>
                  <a:srgbClr val="0E3832"/>
                </a:solidFill>
              </a:rPr>
              <a:t>A measured meal, an AGI reasoning layer, and a healing ecosystem that people already recognize.</a:t>
            </a:r>
          </a:p>
        </p:txBody>
      </p:sp>
      <p:sp>
        <p:nvSpPr>
          <p:cNvPr id="5" name="triad-core-text">
            <a:extLst xmlns:a="http://schemas.openxmlformats.org/drawingml/2006/main">
              <a:ext uri="{FF2B5EF4-FFF2-40B4-BE49-F238E27FC236}">
                <a16:creationId xmlns:a16="http://schemas.microsoft.com/office/drawing/2014/main" id="{147A1660-9BCE-4AE4-A235-5854FEB99BF0}"/>
              </a:ext>
            </a:extLst>
          </p:cNvPr>
          <p:cNvSpPr>
            <a:spLocks xmlns:a="http://schemas.openxmlformats.org/drawingml/2006/main" noGrp="1"/>
          </p:cNvSpPr>
          <p:nvPr/>
        </p:nvSpPr>
        <p:spPr>
          <a:xfrm xmlns:a="http://schemas.openxmlformats.org/drawingml/2006/main">
            <a:off x="819150" y="4381500"/>
            <a:ext cx="2400300" cy="2686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i="0">
                <a:solidFill>
                  <a:srgbClr val="0F8C68"/>
                </a:solidFill>
              </a:defRPr>
            </a:pPr>
            <a:r>
              <a:rPr sz="5850" b="1" i="0">
                <a:solidFill>
                  <a:srgbClr val="0F8C68"/>
                </a:solidFill>
              </a:rPr>
              <a:t>ONE</a:t>
            </a:r>
          </a:p>
          <a:p xmlns:a="http://schemas.openxmlformats.org/drawingml/2006/main">
            <a:pPr>
              <a:defRPr sz="5850" b="1" i="0">
                <a:solidFill>
                  <a:srgbClr val="0F8C68"/>
                </a:solidFill>
              </a:defRPr>
            </a:pPr>
            <a:r>
              <a:rPr sz="5850" b="1" i="0">
                <a:solidFill>
                  <a:srgbClr val="0F8C68"/>
                </a:solidFill>
              </a:rPr>
              <a:t>NEXT</a:t>
            </a:r>
          </a:p>
          <a:p xmlns:a="http://schemas.openxmlformats.org/drawingml/2006/main">
            <a:pPr>
              <a:defRPr sz="5850" b="1" i="0">
                <a:solidFill>
                  <a:srgbClr val="0F8C68"/>
                </a:solidFill>
              </a:defRPr>
            </a:pPr>
            <a:r>
              <a:rPr sz="5850" b="1" i="0">
                <a:solidFill>
                  <a:srgbClr val="0F8C68"/>
                </a:solidFill>
              </a:rPr>
              <a:t>ACTION</a:t>
            </a:r>
          </a:p>
        </p:txBody>
      </p:sp>
      <p:sp>
        <p:nvSpPr>
          <p:cNvPr id="6" name="triad-mark-rule">
            <a:extLst xmlns:a="http://schemas.openxmlformats.org/drawingml/2006/main">
              <a:ext uri="{FF2B5EF4-FFF2-40B4-BE49-F238E27FC236}">
                <a16:creationId xmlns:a16="http://schemas.microsoft.com/office/drawing/2014/main" id="{F6CE0639-F323-43F5-B35F-BCFFFB5B1C04}"/>
              </a:ext>
            </a:extLst>
          </p:cNvPr>
          <p:cNvSpPr>
            <a:spLocks xmlns:a="http://schemas.openxmlformats.org/drawingml/2006/main" noGrp="1"/>
          </p:cNvSpPr>
          <p:nvPr/>
        </p:nvSpPr>
        <p:spPr>
          <a:xfrm xmlns:a="http://schemas.openxmlformats.org/drawingml/2006/main">
            <a:off x="819150" y="7277100"/>
            <a:ext cx="2476500" cy="66675"/>
          </a:xfrm>
          <a:prstGeom xmlns:a="http://schemas.openxmlformats.org/drawingml/2006/main" prst="rect">
            <a:avLst/>
          </a:prstGeom>
          <a:solidFill xmlns:a="http://schemas.openxmlformats.org/drawingml/2006/main">
            <a:srgbClr val="F06C3E"/>
          </a:solidFill>
          <a:ln xmlns:a="http://schemas.openxmlformats.org/drawingml/2006/main" w="0">
            <a:solidFill>
              <a:srgbClr val="F06C3E"/>
            </a:solidFill>
            <a:prstDash val="solid"/>
          </a:ln>
        </p:spPr>
      </p:sp>
      <p:sp>
        <p:nvSpPr>
          <p:cNvPr id="7" name="triad-mark-copy">
            <a:extLst xmlns:a="http://schemas.openxmlformats.org/drawingml/2006/main">
              <a:ext uri="{FF2B5EF4-FFF2-40B4-BE49-F238E27FC236}">
                <a16:creationId xmlns:a16="http://schemas.microsoft.com/office/drawing/2014/main" id="{43DC1565-B4F1-427C-879E-94727AF85CD8}"/>
              </a:ext>
            </a:extLst>
          </p:cNvPr>
          <p:cNvSpPr>
            <a:spLocks xmlns:a="http://schemas.openxmlformats.org/drawingml/2006/main" noGrp="1"/>
          </p:cNvSpPr>
          <p:nvPr/>
        </p:nvSpPr>
        <p:spPr>
          <a:xfrm xmlns:a="http://schemas.openxmlformats.org/drawingml/2006/main">
            <a:off x="819150" y="7581900"/>
            <a:ext cx="54292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i="0">
                <a:solidFill>
                  <a:srgbClr val="0E3832"/>
                </a:solidFill>
              </a:defRPr>
            </a:pPr>
            <a:r>
              <a:rPr sz="2175" b="1" i="0">
                <a:solidFill>
                  <a:srgbClr val="0E3832"/>
                </a:solidFill>
              </a:rPr>
              <a:t>Measured meal -&gt; AGI recommendation -&gt; Thai healing action</a:t>
            </a:r>
          </a:p>
        </p:txBody>
      </p:sp>
      <p:sp>
        <p:nvSpPr>
          <p:cNvPr id="8" name="triad-dot-a">
            <a:extLst xmlns:a="http://schemas.openxmlformats.org/drawingml/2006/main">
              <a:ext uri="{FF2B5EF4-FFF2-40B4-BE49-F238E27FC236}">
                <a16:creationId xmlns:a16="http://schemas.microsoft.com/office/drawing/2014/main" id="{F4D1AAB5-16AA-42EF-A0BC-2A99E4F7F08E}"/>
              </a:ext>
            </a:extLst>
          </p:cNvPr>
          <p:cNvSpPr>
            <a:spLocks xmlns:a="http://schemas.openxmlformats.org/drawingml/2006/main" noGrp="1"/>
          </p:cNvSpPr>
          <p:nvPr/>
        </p:nvSpPr>
        <p:spPr>
          <a:xfrm xmlns:a="http://schemas.openxmlformats.org/drawingml/2006/main">
            <a:off x="9105900" y="5486400"/>
            <a:ext cx="266700" cy="266700"/>
          </a:xfrm>
          <a:prstGeom xmlns:a="http://schemas.openxmlformats.org/drawingml/2006/main" prst="ellipse">
            <a:avLst/>
          </a:prstGeom>
          <a:solidFill xmlns:a="http://schemas.openxmlformats.org/drawingml/2006/main">
            <a:srgbClr val="F06C3E"/>
          </a:solidFill>
        </p:spPr>
      </p:sp>
      <p:sp>
        <p:nvSpPr>
          <p:cNvPr id="9" name="triad-text-a">
            <a:extLst xmlns:a="http://schemas.openxmlformats.org/drawingml/2006/main">
              <a:ext uri="{FF2B5EF4-FFF2-40B4-BE49-F238E27FC236}">
                <a16:creationId xmlns:a16="http://schemas.microsoft.com/office/drawing/2014/main" id="{EFAF3EF5-A76B-4BEC-8C0E-201B2126E605}"/>
              </a:ext>
            </a:extLst>
          </p:cNvPr>
          <p:cNvSpPr>
            <a:spLocks xmlns:a="http://schemas.openxmlformats.org/drawingml/2006/main" noGrp="1"/>
          </p:cNvSpPr>
          <p:nvPr/>
        </p:nvSpPr>
        <p:spPr>
          <a:xfrm xmlns:a="http://schemas.openxmlformats.org/drawingml/2006/main">
            <a:off x="9544050" y="5429250"/>
            <a:ext cx="79248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i="0">
                <a:solidFill>
                  <a:srgbClr val="12211D"/>
                </a:solidFill>
              </a:defRPr>
            </a:pPr>
            <a:r>
              <a:rPr sz="2550" b="1" i="0">
                <a:solidFill>
                  <a:srgbClr val="12211D"/>
                </a:solidFill>
              </a:rPr>
              <a:t>Hardware: Smart Spoon measures the meal.</a:t>
            </a:r>
          </a:p>
        </p:txBody>
      </p:sp>
      <p:sp>
        <p:nvSpPr>
          <p:cNvPr id="10" name="triad-dot-b">
            <a:extLst xmlns:a="http://schemas.openxmlformats.org/drawingml/2006/main">
              <a:ext uri="{FF2B5EF4-FFF2-40B4-BE49-F238E27FC236}">
                <a16:creationId xmlns:a16="http://schemas.microsoft.com/office/drawing/2014/main" id="{B59C7612-4AE8-4AE1-AC02-3EED2317AB95}"/>
              </a:ext>
            </a:extLst>
          </p:cNvPr>
          <p:cNvSpPr>
            <a:spLocks xmlns:a="http://schemas.openxmlformats.org/drawingml/2006/main" noGrp="1"/>
          </p:cNvSpPr>
          <p:nvPr/>
        </p:nvSpPr>
        <p:spPr>
          <a:xfrm xmlns:a="http://schemas.openxmlformats.org/drawingml/2006/main">
            <a:off x="9105900" y="6172200"/>
            <a:ext cx="266700" cy="266700"/>
          </a:xfrm>
          <a:prstGeom xmlns:a="http://schemas.openxmlformats.org/drawingml/2006/main" prst="ellipse">
            <a:avLst/>
          </a:prstGeom>
          <a:solidFill xmlns:a="http://schemas.openxmlformats.org/drawingml/2006/main">
            <a:srgbClr val="0F8C68"/>
          </a:solidFill>
        </p:spPr>
      </p:sp>
      <p:sp>
        <p:nvSpPr>
          <p:cNvPr id="11" name="triad-text-b">
            <a:extLst xmlns:a="http://schemas.openxmlformats.org/drawingml/2006/main">
              <a:ext uri="{FF2B5EF4-FFF2-40B4-BE49-F238E27FC236}">
                <a16:creationId xmlns:a16="http://schemas.microsoft.com/office/drawing/2014/main" id="{389F7037-E41A-47E6-91F5-69857142FCC4}"/>
              </a:ext>
            </a:extLst>
          </p:cNvPr>
          <p:cNvSpPr>
            <a:spLocks xmlns:a="http://schemas.openxmlformats.org/drawingml/2006/main" noGrp="1"/>
          </p:cNvSpPr>
          <p:nvPr/>
        </p:nvSpPr>
        <p:spPr>
          <a:xfrm xmlns:a="http://schemas.openxmlformats.org/drawingml/2006/main">
            <a:off x="9544050" y="6115050"/>
            <a:ext cx="79248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i="0">
                <a:solidFill>
                  <a:srgbClr val="12211D"/>
                </a:solidFill>
              </a:defRPr>
            </a:pPr>
            <a:r>
              <a:rPr sz="2550" b="1" i="0">
                <a:solidFill>
                  <a:srgbClr val="12211D"/>
                </a:solidFill>
              </a:rPr>
              <a:t>Software: AGI reasons across the person and environment.</a:t>
            </a:r>
          </a:p>
        </p:txBody>
      </p:sp>
      <p:sp>
        <p:nvSpPr>
          <p:cNvPr id="12" name="triad-dot-c">
            <a:extLst xmlns:a="http://schemas.openxmlformats.org/drawingml/2006/main">
              <a:ext uri="{FF2B5EF4-FFF2-40B4-BE49-F238E27FC236}">
                <a16:creationId xmlns:a16="http://schemas.microsoft.com/office/drawing/2014/main" id="{06C26A1F-7F32-40D2-BCBC-B21694072E0E}"/>
              </a:ext>
            </a:extLst>
          </p:cNvPr>
          <p:cNvSpPr>
            <a:spLocks xmlns:a="http://schemas.openxmlformats.org/drawingml/2006/main" noGrp="1"/>
          </p:cNvSpPr>
          <p:nvPr/>
        </p:nvSpPr>
        <p:spPr>
          <a:xfrm xmlns:a="http://schemas.openxmlformats.org/drawingml/2006/main">
            <a:off x="9105900" y="6858000"/>
            <a:ext cx="266700" cy="266700"/>
          </a:xfrm>
          <a:prstGeom xmlns:a="http://schemas.openxmlformats.org/drawingml/2006/main" prst="ellipse">
            <a:avLst/>
          </a:prstGeom>
          <a:solidFill xmlns:a="http://schemas.openxmlformats.org/drawingml/2006/main">
            <a:srgbClr val="4CA7C5"/>
          </a:solidFill>
        </p:spPr>
      </p:sp>
      <p:sp>
        <p:nvSpPr>
          <p:cNvPr id="13" name="triad-text-c">
            <a:extLst xmlns:a="http://schemas.openxmlformats.org/drawingml/2006/main">
              <a:ext uri="{FF2B5EF4-FFF2-40B4-BE49-F238E27FC236}">
                <a16:creationId xmlns:a16="http://schemas.microsoft.com/office/drawing/2014/main" id="{7293DCF6-9E78-4A3E-A2AE-840B59E6B301}"/>
              </a:ext>
            </a:extLst>
          </p:cNvPr>
          <p:cNvSpPr>
            <a:spLocks xmlns:a="http://schemas.openxmlformats.org/drawingml/2006/main" noGrp="1"/>
          </p:cNvSpPr>
          <p:nvPr/>
        </p:nvSpPr>
        <p:spPr>
          <a:xfrm xmlns:a="http://schemas.openxmlformats.org/drawingml/2006/main">
            <a:off x="9544050" y="6781800"/>
            <a:ext cx="79248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i="0">
                <a:solidFill>
                  <a:srgbClr val="12211D"/>
                </a:solidFill>
              </a:defRPr>
            </a:pPr>
            <a:r>
              <a:rPr sz="2550" b="1" i="0">
                <a:solidFill>
                  <a:srgbClr val="12211D"/>
                </a:solidFill>
              </a:rPr>
              <a:t>Community: Thai healing turns advice into adherence.</a:t>
            </a:r>
          </a:p>
        </p:txBody>
      </p:sp>
      <p:sp>
        <p:nvSpPr>
          <p:cNvPr id="14" name="footer-label-4">
            <a:extLst xmlns:a="http://schemas.openxmlformats.org/drawingml/2006/main">
              <a:ext uri="{FF2B5EF4-FFF2-40B4-BE49-F238E27FC236}">
                <a16:creationId xmlns:a16="http://schemas.microsoft.com/office/drawing/2014/main" id="{C5B63A7F-3379-4D92-8D5C-696CAEAA56D5}"/>
              </a:ext>
            </a:extLst>
          </p:cNvPr>
          <p:cNvSpPr>
            <a:spLocks xmlns:a="http://schemas.openxmlformats.org/drawingml/2006/main" noGrp="1"/>
          </p:cNvSpPr>
          <p:nvPr/>
        </p:nvSpPr>
        <p:spPr>
          <a:xfrm xmlns:a="http://schemas.openxmlformats.org/drawingml/2006/main">
            <a:off x="819150" y="9505950"/>
            <a:ext cx="23050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i="0">
                <a:solidFill>
                  <a:srgbClr val="6F7C73"/>
                </a:solidFill>
              </a:defRPr>
            </a:pPr>
            <a:r>
              <a:rPr sz="1350" b="0" i="0">
                <a:solidFill>
                  <a:srgbClr val="6F7C73"/>
                </a:solidFill>
              </a:rPr>
              <a:t>OmniWell Thai | Hackathon Pitch</a:t>
            </a:r>
          </a:p>
        </p:txBody>
      </p:sp>
      <p:sp>
        <p:nvSpPr>
          <p:cNvPr id="15" name="footer-number-4">
            <a:extLst xmlns:a="http://schemas.openxmlformats.org/drawingml/2006/main">
              <a:ext uri="{FF2B5EF4-FFF2-40B4-BE49-F238E27FC236}">
                <a16:creationId xmlns:a16="http://schemas.microsoft.com/office/drawing/2014/main" id="{33981078-9E25-4669-B557-DB929D93F00F}"/>
              </a:ext>
            </a:extLst>
          </p:cNvPr>
          <p:cNvSpPr>
            <a:spLocks xmlns:a="http://schemas.openxmlformats.org/drawingml/2006/main" noGrp="1"/>
          </p:cNvSpPr>
          <p:nvPr/>
        </p:nvSpPr>
        <p:spPr>
          <a:xfrm xmlns:a="http://schemas.openxmlformats.org/drawingml/2006/main">
            <a:off x="16935450" y="9505950"/>
            <a:ext cx="5334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i="0">
                <a:solidFill>
                  <a:srgbClr val="6F7C73"/>
                </a:solidFill>
              </a:defRPr>
            </a:pPr>
            <a:r>
              <a:rPr sz="1350" b="1" i="0">
                <a:solidFill>
                  <a:srgbClr val="6F7C73"/>
                </a:solidFill>
              </a:rPr>
              <a:t>04</a:t>
            </a:r>
          </a:p>
        </p:txBody>
      </p:sp>
    </p:spTree>
    <p:extLst>
      <p:ext uri="{BB962C8B-B14F-4D97-AF65-F5344CB8AC3E}">
        <p14:creationId xmlns:p14="http://schemas.microsoft.com/office/powerpoint/2010/main" val="13537886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04D61937-9C1E-48B7-8537-9315A51F2F1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8F1E1"/>
          </a:solidFill>
        </p:spPr>
      </p:sp>
      <p:sp>
        <p:nvSpPr>
          <p:cNvPr id="2" name="eyebrow-5">
            <a:extLst xmlns:a="http://schemas.openxmlformats.org/drawingml/2006/main">
              <a:ext uri="{FF2B5EF4-FFF2-40B4-BE49-F238E27FC236}">
                <a16:creationId xmlns:a16="http://schemas.microsoft.com/office/drawing/2014/main" id="{4A6C976D-BC6C-4F2C-81CB-065480A39740}"/>
              </a:ext>
            </a:extLst>
          </p:cNvPr>
          <p:cNvSpPr>
            <a:spLocks xmlns:a="http://schemas.openxmlformats.org/drawingml/2006/main" noGrp="1"/>
          </p:cNvSpPr>
          <p:nvPr/>
        </p:nvSpPr>
        <p:spPr>
          <a:xfrm xmlns:a="http://schemas.openxmlformats.org/drawingml/2006/main">
            <a:off x="819150" y="590550"/>
            <a:ext cx="4343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0F8C68"/>
                </a:solidFill>
              </a:defRPr>
            </a:pPr>
            <a:r>
              <a:rPr sz="1500" b="1" i="0">
                <a:solidFill>
                  <a:srgbClr val="0F8C68"/>
                </a:solidFill>
              </a:rPr>
              <a:t>HARDWARE | WHY SOFTWARE ALONE IS NOT ENOUGH</a:t>
            </a:r>
          </a:p>
        </p:txBody>
      </p:sp>
      <p:sp>
        <p:nvSpPr>
          <p:cNvPr id="3" name="slide-title-5">
            <a:extLst xmlns:a="http://schemas.openxmlformats.org/drawingml/2006/main">
              <a:ext uri="{FF2B5EF4-FFF2-40B4-BE49-F238E27FC236}">
                <a16:creationId xmlns:a16="http://schemas.microsoft.com/office/drawing/2014/main" id="{EF2E6E33-3E63-487C-A796-15A67A69FCCD}"/>
              </a:ext>
            </a:extLst>
          </p:cNvPr>
          <p:cNvSpPr>
            <a:spLocks xmlns:a="http://schemas.openxmlformats.org/drawingml/2006/main" noGrp="1"/>
          </p:cNvSpPr>
          <p:nvPr/>
        </p:nvSpPr>
        <p:spPr>
          <a:xfrm xmlns:a="http://schemas.openxmlformats.org/drawingml/2006/main">
            <a:off x="819150" y="990600"/>
            <a:ext cx="11830050" cy="1428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i="0">
                <a:solidFill>
                  <a:srgbClr val="12211D"/>
                </a:solidFill>
              </a:defRPr>
            </a:pPr>
            <a:r>
              <a:rPr sz="4650" b="1" i="0">
                <a:solidFill>
                  <a:srgbClr val="12211D"/>
                </a:solidFill>
              </a:rPr>
              <a:t>The Smart Spoon makes nutrition measurable at bite-level resolution.</a:t>
            </a:r>
          </a:p>
        </p:txBody>
      </p:sp>
      <p:sp>
        <p:nvSpPr>
          <p:cNvPr id="4" name="slide-subtitle-5">
            <a:extLst xmlns:a="http://schemas.openxmlformats.org/drawingml/2006/main">
              <a:ext uri="{FF2B5EF4-FFF2-40B4-BE49-F238E27FC236}">
                <a16:creationId xmlns:a16="http://schemas.microsoft.com/office/drawing/2014/main" id="{D89B0AB1-AC44-43B6-A23F-367C596166CC}"/>
              </a:ext>
            </a:extLst>
          </p:cNvPr>
          <p:cNvSpPr>
            <a:spLocks xmlns:a="http://schemas.openxmlformats.org/drawingml/2006/main" noGrp="1"/>
          </p:cNvSpPr>
          <p:nvPr/>
        </p:nvSpPr>
        <p:spPr>
          <a:xfrm xmlns:a="http://schemas.openxmlformats.org/drawingml/2006/main">
            <a:off x="819150" y="2571750"/>
            <a:ext cx="81534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i="0">
                <a:solidFill>
                  <a:srgbClr val="0E3832"/>
                </a:solidFill>
              </a:defRPr>
            </a:pPr>
            <a:r>
              <a:rPr sz="2100" b="0" i="0">
                <a:solidFill>
                  <a:srgbClr val="0E3832"/>
                </a:solidFill>
              </a:rPr>
              <a:t>It is the bridge between what the plan says and what the user actually eats.</a:t>
            </a:r>
          </a:p>
        </p:txBody>
      </p:sp>
      <p:sp>
        <p:nvSpPr>
          <p:cNvPr id="5" name="spoon-shadow">
            <a:extLst xmlns:a="http://schemas.openxmlformats.org/drawingml/2006/main">
              <a:ext uri="{FF2B5EF4-FFF2-40B4-BE49-F238E27FC236}">
                <a16:creationId xmlns:a16="http://schemas.microsoft.com/office/drawing/2014/main" id="{B8FFF6E0-B8C5-4BF8-AD77-9525D8659C58}"/>
              </a:ext>
            </a:extLst>
          </p:cNvPr>
          <p:cNvSpPr>
            <a:spLocks xmlns:a="http://schemas.openxmlformats.org/drawingml/2006/main" noGrp="1"/>
          </p:cNvSpPr>
          <p:nvPr/>
        </p:nvSpPr>
        <p:spPr>
          <a:xfrm xmlns:a="http://schemas.openxmlformats.org/drawingml/2006/main">
            <a:off x="838200" y="3276600"/>
            <a:ext cx="6191250" cy="2000250"/>
          </a:xfrm>
          <a:prstGeom xmlns:a="http://schemas.openxmlformats.org/drawingml/2006/main" prst="ellipse">
            <a:avLst/>
          </a:prstGeom>
          <a:solidFill xmlns:a="http://schemas.openxmlformats.org/drawingml/2006/main">
            <a:srgbClr val="E4D7B8"/>
          </a:solidFill>
        </p:spPr>
      </p:sp>
      <p:sp>
        <p:nvSpPr>
          <p:cNvPr id="6" name="spoon-bowl">
            <a:extLst xmlns:a="http://schemas.openxmlformats.org/drawingml/2006/main">
              <a:ext uri="{FF2B5EF4-FFF2-40B4-BE49-F238E27FC236}">
                <a16:creationId xmlns:a16="http://schemas.microsoft.com/office/drawing/2014/main" id="{6D97B895-31C1-4C75-A5F6-FAB744D71840}"/>
              </a:ext>
            </a:extLst>
          </p:cNvPr>
          <p:cNvSpPr>
            <a:spLocks xmlns:a="http://schemas.openxmlformats.org/drawingml/2006/main" noGrp="1"/>
          </p:cNvSpPr>
          <p:nvPr/>
        </p:nvSpPr>
        <p:spPr>
          <a:xfrm xmlns:a="http://schemas.openxmlformats.org/drawingml/2006/main">
            <a:off x="838200" y="3276600"/>
            <a:ext cx="2857500" cy="3714750"/>
          </a:xfrm>
          <a:prstGeom xmlns:a="http://schemas.openxmlformats.org/drawingml/2006/main" prst="ellipse">
            <a:avLst/>
          </a:prstGeom>
          <a:solidFill xmlns:a="http://schemas.openxmlformats.org/drawingml/2006/main">
            <a:srgbClr val="FFFFFF"/>
          </a:solidFill>
        </p:spPr>
      </p:sp>
      <p:sp>
        <p:nvSpPr>
          <p:cNvPr id="7" name="spoon-handle">
            <a:extLst xmlns:a="http://schemas.openxmlformats.org/drawingml/2006/main">
              <a:ext uri="{FF2B5EF4-FFF2-40B4-BE49-F238E27FC236}">
                <a16:creationId xmlns:a16="http://schemas.microsoft.com/office/drawing/2014/main" id="{000BFBCC-6F37-4E83-B40C-7C377AA2D96C}"/>
              </a:ext>
            </a:extLst>
          </p:cNvPr>
          <p:cNvSpPr>
            <a:spLocks xmlns:a="http://schemas.openxmlformats.org/drawingml/2006/main" noGrp="1"/>
          </p:cNvSpPr>
          <p:nvPr/>
        </p:nvSpPr>
        <p:spPr>
          <a:xfrm xmlns:a="http://schemas.openxmlformats.org/drawingml/2006/main">
            <a:off x="838200" y="3276600"/>
            <a:ext cx="781050" cy="4857750"/>
          </a:xfrm>
          <a:prstGeom xmlns:a="http://schemas.openxmlformats.org/drawingml/2006/main" prst="rect">
            <a:avLst/>
          </a:prstGeom>
          <a:solidFill xmlns:a="http://schemas.openxmlformats.org/drawingml/2006/main">
            <a:srgbClr val="FFFFFF"/>
          </a:solidFill>
        </p:spPr>
      </p:sp>
      <p:sp>
        <p:nvSpPr>
          <p:cNvPr id="8" name="spoon-sensor">
            <a:extLst xmlns:a="http://schemas.openxmlformats.org/drawingml/2006/main">
              <a:ext uri="{FF2B5EF4-FFF2-40B4-BE49-F238E27FC236}">
                <a16:creationId xmlns:a16="http://schemas.microsoft.com/office/drawing/2014/main" id="{2EA30BBE-F059-4AE3-A77F-C85B9B196379}"/>
              </a:ext>
            </a:extLst>
          </p:cNvPr>
          <p:cNvSpPr>
            <a:spLocks xmlns:a="http://schemas.openxmlformats.org/drawingml/2006/main" noGrp="1"/>
          </p:cNvSpPr>
          <p:nvPr/>
        </p:nvSpPr>
        <p:spPr>
          <a:xfrm xmlns:a="http://schemas.openxmlformats.org/drawingml/2006/main">
            <a:off x="838200" y="3276600"/>
            <a:ext cx="666750" cy="666750"/>
          </a:xfrm>
          <a:prstGeom xmlns:a="http://schemas.openxmlformats.org/drawingml/2006/main" prst="ellipse">
            <a:avLst/>
          </a:prstGeom>
          <a:solidFill xmlns:a="http://schemas.openxmlformats.org/drawingml/2006/main">
            <a:srgbClr val="0F8C68"/>
          </a:solidFill>
        </p:spPr>
      </p:sp>
      <p:sp>
        <p:nvSpPr>
          <p:cNvPr id="9" name="open-list-dot-0">
            <a:extLst xmlns:a="http://schemas.openxmlformats.org/drawingml/2006/main">
              <a:ext uri="{FF2B5EF4-FFF2-40B4-BE49-F238E27FC236}">
                <a16:creationId xmlns:a16="http://schemas.microsoft.com/office/drawing/2014/main" id="{DB049E65-8F18-4AD5-A467-7554AC6CEE83}"/>
              </a:ext>
            </a:extLst>
          </p:cNvPr>
          <p:cNvSpPr>
            <a:spLocks xmlns:a="http://schemas.openxmlformats.org/drawingml/2006/main" noGrp="1"/>
          </p:cNvSpPr>
          <p:nvPr/>
        </p:nvSpPr>
        <p:spPr>
          <a:xfrm xmlns:a="http://schemas.openxmlformats.org/drawingml/2006/main">
            <a:off x="9906000" y="4038600"/>
            <a:ext cx="190500" cy="190500"/>
          </a:xfrm>
          <a:prstGeom xmlns:a="http://schemas.openxmlformats.org/drawingml/2006/main" prst="ellipse">
            <a:avLst/>
          </a:prstGeom>
          <a:solidFill xmlns:a="http://schemas.openxmlformats.org/drawingml/2006/main">
            <a:srgbClr val="0F8C68"/>
          </a:solidFill>
        </p:spPr>
      </p:sp>
      <p:sp>
        <p:nvSpPr>
          <p:cNvPr id="10" name="open-list-label-0">
            <a:extLst xmlns:a="http://schemas.openxmlformats.org/drawingml/2006/main">
              <a:ext uri="{FF2B5EF4-FFF2-40B4-BE49-F238E27FC236}">
                <a16:creationId xmlns:a16="http://schemas.microsoft.com/office/drawing/2014/main" id="{9BCD9451-8239-4E6C-B422-AA6A3AF619D4}"/>
              </a:ext>
            </a:extLst>
          </p:cNvPr>
          <p:cNvSpPr>
            <a:spLocks xmlns:a="http://schemas.openxmlformats.org/drawingml/2006/main" noGrp="1"/>
          </p:cNvSpPr>
          <p:nvPr/>
        </p:nvSpPr>
        <p:spPr>
          <a:xfrm xmlns:a="http://schemas.openxmlformats.org/drawingml/2006/main">
            <a:off x="10248900" y="4038600"/>
            <a:ext cx="72199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i="0">
                <a:solidFill>
                  <a:srgbClr val="12211D"/>
                </a:solidFill>
              </a:defRPr>
            </a:pPr>
            <a:r>
              <a:rPr sz="2400" b="1" i="0">
                <a:solidFill>
                  <a:srgbClr val="12211D"/>
                </a:solidFill>
              </a:rPr>
              <a:t>NIR</a:t>
            </a:r>
          </a:p>
        </p:txBody>
      </p:sp>
      <p:sp>
        <p:nvSpPr>
          <p:cNvPr id="11" name="open-list-copy-text-0">
            <a:extLst xmlns:a="http://schemas.openxmlformats.org/drawingml/2006/main">
              <a:ext uri="{FF2B5EF4-FFF2-40B4-BE49-F238E27FC236}">
                <a16:creationId xmlns:a16="http://schemas.microsoft.com/office/drawing/2014/main" id="{736CA27D-098F-497C-B274-110388670B5E}"/>
              </a:ext>
            </a:extLst>
          </p:cNvPr>
          <p:cNvSpPr>
            <a:spLocks xmlns:a="http://schemas.openxmlformats.org/drawingml/2006/main" noGrp="1"/>
          </p:cNvSpPr>
          <p:nvPr/>
        </p:nvSpPr>
        <p:spPr>
          <a:xfrm xmlns:a="http://schemas.openxmlformats.org/drawingml/2006/main">
            <a:off x="10248900" y="4457700"/>
            <a:ext cx="54483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0E3832"/>
                </a:solidFill>
              </a:defRPr>
            </a:pPr>
            <a:r>
              <a:rPr sz="1800" b="0" i="0">
                <a:solidFill>
                  <a:srgbClr val="0E3832"/>
                </a:solidFill>
              </a:rPr>
              <a:t>Estimates macro composition patterns at the meal surface.</a:t>
            </a:r>
          </a:p>
        </p:txBody>
      </p:sp>
      <p:sp>
        <p:nvSpPr>
          <p:cNvPr id="12" name="open-list-dot-1">
            <a:extLst xmlns:a="http://schemas.openxmlformats.org/drawingml/2006/main">
              <a:ext uri="{FF2B5EF4-FFF2-40B4-BE49-F238E27FC236}">
                <a16:creationId xmlns:a16="http://schemas.microsoft.com/office/drawing/2014/main" id="{B515E209-821D-46E9-BBB0-A20BD0312050}"/>
              </a:ext>
            </a:extLst>
          </p:cNvPr>
          <p:cNvSpPr>
            <a:spLocks xmlns:a="http://schemas.openxmlformats.org/drawingml/2006/main" noGrp="1"/>
          </p:cNvSpPr>
          <p:nvPr/>
        </p:nvSpPr>
        <p:spPr>
          <a:xfrm xmlns:a="http://schemas.openxmlformats.org/drawingml/2006/main">
            <a:off x="9906000" y="5257800"/>
            <a:ext cx="190500" cy="190500"/>
          </a:xfrm>
          <a:prstGeom xmlns:a="http://schemas.openxmlformats.org/drawingml/2006/main" prst="ellipse">
            <a:avLst/>
          </a:prstGeom>
          <a:solidFill xmlns:a="http://schemas.openxmlformats.org/drawingml/2006/main">
            <a:srgbClr val="F0BE49"/>
          </a:solidFill>
        </p:spPr>
      </p:sp>
      <p:sp>
        <p:nvSpPr>
          <p:cNvPr id="13" name="open-list-label-1">
            <a:extLst xmlns:a="http://schemas.openxmlformats.org/drawingml/2006/main">
              <a:ext uri="{FF2B5EF4-FFF2-40B4-BE49-F238E27FC236}">
                <a16:creationId xmlns:a16="http://schemas.microsoft.com/office/drawing/2014/main" id="{E8774E97-845A-4B59-B72E-B2E9D17E4F16}"/>
              </a:ext>
            </a:extLst>
          </p:cNvPr>
          <p:cNvSpPr>
            <a:spLocks xmlns:a="http://schemas.openxmlformats.org/drawingml/2006/main" noGrp="1"/>
          </p:cNvSpPr>
          <p:nvPr/>
        </p:nvSpPr>
        <p:spPr>
          <a:xfrm xmlns:a="http://schemas.openxmlformats.org/drawingml/2006/main">
            <a:off x="10248900" y="5238750"/>
            <a:ext cx="72199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i="0">
                <a:solidFill>
                  <a:srgbClr val="12211D"/>
                </a:solidFill>
              </a:defRPr>
            </a:pPr>
            <a:r>
              <a:rPr sz="2400" b="1" i="0">
                <a:solidFill>
                  <a:srgbClr val="12211D"/>
                </a:solidFill>
              </a:rPr>
              <a:t>Load cell</a:t>
            </a:r>
          </a:p>
        </p:txBody>
      </p:sp>
      <p:sp>
        <p:nvSpPr>
          <p:cNvPr id="14" name="open-list-copy-text-1">
            <a:extLst xmlns:a="http://schemas.openxmlformats.org/drawingml/2006/main">
              <a:ext uri="{FF2B5EF4-FFF2-40B4-BE49-F238E27FC236}">
                <a16:creationId xmlns:a16="http://schemas.microsoft.com/office/drawing/2014/main" id="{96C1CD78-975F-4A17-A8CA-72F0FB0E0F72}"/>
              </a:ext>
            </a:extLst>
          </p:cNvPr>
          <p:cNvSpPr>
            <a:spLocks xmlns:a="http://schemas.openxmlformats.org/drawingml/2006/main" noGrp="1"/>
          </p:cNvSpPr>
          <p:nvPr/>
        </p:nvSpPr>
        <p:spPr>
          <a:xfrm xmlns:a="http://schemas.openxmlformats.org/drawingml/2006/main">
            <a:off x="10248900" y="5657850"/>
            <a:ext cx="5162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0E3832"/>
                </a:solidFill>
              </a:defRPr>
            </a:pPr>
            <a:r>
              <a:rPr sz="1800" b="0" i="0">
                <a:solidFill>
                  <a:srgbClr val="0E3832"/>
                </a:solidFill>
              </a:rPr>
              <a:t>Measures weight and portion behavior as the user eats.</a:t>
            </a:r>
          </a:p>
        </p:txBody>
      </p:sp>
      <p:sp>
        <p:nvSpPr>
          <p:cNvPr id="15" name="open-list-dot-2">
            <a:extLst xmlns:a="http://schemas.openxmlformats.org/drawingml/2006/main">
              <a:ext uri="{FF2B5EF4-FFF2-40B4-BE49-F238E27FC236}">
                <a16:creationId xmlns:a16="http://schemas.microsoft.com/office/drawing/2014/main" id="{78C61FB7-53FE-4FED-8B09-E9C4779F7AEE}"/>
              </a:ext>
            </a:extLst>
          </p:cNvPr>
          <p:cNvSpPr>
            <a:spLocks xmlns:a="http://schemas.openxmlformats.org/drawingml/2006/main" noGrp="1"/>
          </p:cNvSpPr>
          <p:nvPr/>
        </p:nvSpPr>
        <p:spPr>
          <a:xfrm xmlns:a="http://schemas.openxmlformats.org/drawingml/2006/main">
            <a:off x="9906000" y="6172200"/>
            <a:ext cx="190500" cy="190500"/>
          </a:xfrm>
          <a:prstGeom xmlns:a="http://schemas.openxmlformats.org/drawingml/2006/main" prst="ellipse">
            <a:avLst/>
          </a:prstGeom>
          <a:solidFill xmlns:a="http://schemas.openxmlformats.org/drawingml/2006/main">
            <a:srgbClr val="F06C3E"/>
          </a:solidFill>
        </p:spPr>
      </p:sp>
      <p:sp>
        <p:nvSpPr>
          <p:cNvPr id="16" name="open-list-label-2">
            <a:extLst xmlns:a="http://schemas.openxmlformats.org/drawingml/2006/main">
              <a:ext uri="{FF2B5EF4-FFF2-40B4-BE49-F238E27FC236}">
                <a16:creationId xmlns:a16="http://schemas.microsoft.com/office/drawing/2014/main" id="{420BE0E9-A5D8-424A-B89D-FD82ECC1C035}"/>
              </a:ext>
            </a:extLst>
          </p:cNvPr>
          <p:cNvSpPr>
            <a:spLocks xmlns:a="http://schemas.openxmlformats.org/drawingml/2006/main" noGrp="1"/>
          </p:cNvSpPr>
          <p:nvPr/>
        </p:nvSpPr>
        <p:spPr>
          <a:xfrm xmlns:a="http://schemas.openxmlformats.org/drawingml/2006/main">
            <a:off x="10248900" y="6172200"/>
            <a:ext cx="72199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i="0">
                <a:solidFill>
                  <a:srgbClr val="12211D"/>
                </a:solidFill>
              </a:defRPr>
            </a:pPr>
            <a:r>
              <a:rPr sz="2400" b="1" i="0">
                <a:solidFill>
                  <a:srgbClr val="12211D"/>
                </a:solidFill>
              </a:rPr>
              <a:t>EIS</a:t>
            </a:r>
          </a:p>
        </p:txBody>
      </p:sp>
      <p:sp>
        <p:nvSpPr>
          <p:cNvPr id="17" name="open-list-copy-text-2">
            <a:extLst xmlns:a="http://schemas.openxmlformats.org/drawingml/2006/main">
              <a:ext uri="{FF2B5EF4-FFF2-40B4-BE49-F238E27FC236}">
                <a16:creationId xmlns:a16="http://schemas.microsoft.com/office/drawing/2014/main" id="{4A7F034D-8FC6-4A63-887B-49F8B234C53D}"/>
              </a:ext>
            </a:extLst>
          </p:cNvPr>
          <p:cNvSpPr>
            <a:spLocks xmlns:a="http://schemas.openxmlformats.org/drawingml/2006/main" noGrp="1"/>
          </p:cNvSpPr>
          <p:nvPr/>
        </p:nvSpPr>
        <p:spPr>
          <a:xfrm xmlns:a="http://schemas.openxmlformats.org/drawingml/2006/main">
            <a:off x="10248900" y="6591300"/>
            <a:ext cx="49911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0E3832"/>
                </a:solidFill>
              </a:defRPr>
            </a:pPr>
            <a:r>
              <a:rPr sz="1800" b="0" i="0">
                <a:solidFill>
                  <a:srgbClr val="0E3832"/>
                </a:solidFill>
              </a:rPr>
              <a:t>Detects sodium-ion signals for salt-sensitive guidance.</a:t>
            </a:r>
          </a:p>
        </p:txBody>
      </p:sp>
      <p:sp>
        <p:nvSpPr>
          <p:cNvPr id="18" name="open-list-dot-3">
            <a:extLst xmlns:a="http://schemas.openxmlformats.org/drawingml/2006/main">
              <a:ext uri="{FF2B5EF4-FFF2-40B4-BE49-F238E27FC236}">
                <a16:creationId xmlns:a16="http://schemas.microsoft.com/office/drawing/2014/main" id="{CAE80067-3140-46CF-A1E3-51DC725B50E1}"/>
              </a:ext>
            </a:extLst>
          </p:cNvPr>
          <p:cNvSpPr>
            <a:spLocks xmlns:a="http://schemas.openxmlformats.org/drawingml/2006/main" noGrp="1"/>
          </p:cNvSpPr>
          <p:nvPr/>
        </p:nvSpPr>
        <p:spPr>
          <a:xfrm xmlns:a="http://schemas.openxmlformats.org/drawingml/2006/main">
            <a:off x="9906000" y="7353300"/>
            <a:ext cx="190500" cy="190500"/>
          </a:xfrm>
          <a:prstGeom xmlns:a="http://schemas.openxmlformats.org/drawingml/2006/main" prst="ellipse">
            <a:avLst/>
          </a:prstGeom>
          <a:solidFill xmlns:a="http://schemas.openxmlformats.org/drawingml/2006/main">
            <a:srgbClr val="4CA7C5"/>
          </a:solidFill>
        </p:spPr>
      </p:sp>
      <p:sp>
        <p:nvSpPr>
          <p:cNvPr id="19" name="open-list-label-3">
            <a:extLst xmlns:a="http://schemas.openxmlformats.org/drawingml/2006/main">
              <a:ext uri="{FF2B5EF4-FFF2-40B4-BE49-F238E27FC236}">
                <a16:creationId xmlns:a16="http://schemas.microsoft.com/office/drawing/2014/main" id="{53928443-4133-45C6-A9E3-3466EE52D0F9}"/>
              </a:ext>
            </a:extLst>
          </p:cNvPr>
          <p:cNvSpPr>
            <a:spLocks xmlns:a="http://schemas.openxmlformats.org/drawingml/2006/main" noGrp="1"/>
          </p:cNvSpPr>
          <p:nvPr/>
        </p:nvSpPr>
        <p:spPr>
          <a:xfrm xmlns:a="http://schemas.openxmlformats.org/drawingml/2006/main">
            <a:off x="10248900" y="7372350"/>
            <a:ext cx="72199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i="0">
                <a:solidFill>
                  <a:srgbClr val="12211D"/>
                </a:solidFill>
              </a:defRPr>
            </a:pPr>
            <a:r>
              <a:rPr sz="2400" b="1" i="0">
                <a:solidFill>
                  <a:srgbClr val="12211D"/>
                </a:solidFill>
              </a:rPr>
              <a:t>Haptics</a:t>
            </a:r>
          </a:p>
        </p:txBody>
      </p:sp>
      <p:sp>
        <p:nvSpPr>
          <p:cNvPr id="20" name="open-list-copy-text-3">
            <a:extLst xmlns:a="http://schemas.openxmlformats.org/drawingml/2006/main">
              <a:ext uri="{FF2B5EF4-FFF2-40B4-BE49-F238E27FC236}">
                <a16:creationId xmlns:a16="http://schemas.microsoft.com/office/drawing/2014/main" id="{276B5EB1-7589-44E3-95CC-992050FA45EB}"/>
              </a:ext>
            </a:extLst>
          </p:cNvPr>
          <p:cNvSpPr>
            <a:spLocks xmlns:a="http://schemas.openxmlformats.org/drawingml/2006/main" noGrp="1"/>
          </p:cNvSpPr>
          <p:nvPr/>
        </p:nvSpPr>
        <p:spPr>
          <a:xfrm xmlns:a="http://schemas.openxmlformats.org/drawingml/2006/main">
            <a:off x="10248900" y="7791450"/>
            <a:ext cx="60960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0E3832"/>
                </a:solidFill>
              </a:defRPr>
            </a:pPr>
            <a:r>
              <a:rPr sz="1800" b="0" i="0">
                <a:solidFill>
                  <a:srgbClr val="0E3832"/>
                </a:solidFill>
              </a:rPr>
              <a:t>Gives private, immediate feedback without interrupting the table.</a:t>
            </a:r>
          </a:p>
        </p:txBody>
      </p:sp>
      <p:sp>
        <p:nvSpPr>
          <p:cNvPr id="21" name="footer-label-5">
            <a:extLst xmlns:a="http://schemas.openxmlformats.org/drawingml/2006/main">
              <a:ext uri="{FF2B5EF4-FFF2-40B4-BE49-F238E27FC236}">
                <a16:creationId xmlns:a16="http://schemas.microsoft.com/office/drawing/2014/main" id="{87D1A8C3-0CDE-4640-A91C-443E8186540D}"/>
              </a:ext>
            </a:extLst>
          </p:cNvPr>
          <p:cNvSpPr>
            <a:spLocks xmlns:a="http://schemas.openxmlformats.org/drawingml/2006/main" noGrp="1"/>
          </p:cNvSpPr>
          <p:nvPr/>
        </p:nvSpPr>
        <p:spPr>
          <a:xfrm xmlns:a="http://schemas.openxmlformats.org/drawingml/2006/main">
            <a:off x="819150" y="9505950"/>
            <a:ext cx="23050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i="0">
                <a:solidFill>
                  <a:srgbClr val="6F7C73"/>
                </a:solidFill>
              </a:defRPr>
            </a:pPr>
            <a:r>
              <a:rPr sz="1350" b="0" i="0">
                <a:solidFill>
                  <a:srgbClr val="6F7C73"/>
                </a:solidFill>
              </a:rPr>
              <a:t>OmniWell Thai | Hackathon Pitch</a:t>
            </a:r>
          </a:p>
        </p:txBody>
      </p:sp>
      <p:sp>
        <p:nvSpPr>
          <p:cNvPr id="22" name="footer-number-5">
            <a:extLst xmlns:a="http://schemas.openxmlformats.org/drawingml/2006/main">
              <a:ext uri="{FF2B5EF4-FFF2-40B4-BE49-F238E27FC236}">
                <a16:creationId xmlns:a16="http://schemas.microsoft.com/office/drawing/2014/main" id="{07FA639C-5669-441F-A4AD-E8F365E7A454}"/>
              </a:ext>
            </a:extLst>
          </p:cNvPr>
          <p:cNvSpPr>
            <a:spLocks xmlns:a="http://schemas.openxmlformats.org/drawingml/2006/main" noGrp="1"/>
          </p:cNvSpPr>
          <p:nvPr/>
        </p:nvSpPr>
        <p:spPr>
          <a:xfrm xmlns:a="http://schemas.openxmlformats.org/drawingml/2006/main">
            <a:off x="16935450" y="9505950"/>
            <a:ext cx="5334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i="0">
                <a:solidFill>
                  <a:srgbClr val="6F7C73"/>
                </a:solidFill>
              </a:defRPr>
            </a:pPr>
            <a:r>
              <a:rPr sz="1350" b="1" i="0">
                <a:solidFill>
                  <a:srgbClr val="6F7C73"/>
                </a:solidFill>
              </a:rPr>
              <a:t>05</a:t>
            </a:r>
          </a:p>
        </p:txBody>
      </p:sp>
    </p:spTree>
    <p:extLst>
      <p:ext uri="{BB962C8B-B14F-4D97-AF65-F5344CB8AC3E}">
        <p14:creationId xmlns:p14="http://schemas.microsoft.com/office/powerpoint/2010/main" val="150086474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FDF6A88F-2AB4-45E0-98FD-9B2D44FFAEF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8F1E1"/>
          </a:solidFill>
        </p:spPr>
      </p:sp>
      <p:sp>
        <p:nvSpPr>
          <p:cNvPr id="2" name="eyebrow-6">
            <a:extLst xmlns:a="http://schemas.openxmlformats.org/drawingml/2006/main">
              <a:ext uri="{FF2B5EF4-FFF2-40B4-BE49-F238E27FC236}">
                <a16:creationId xmlns:a16="http://schemas.microsoft.com/office/drawing/2014/main" id="{B584B980-9499-4B79-A8E5-E9F46678F4F2}"/>
              </a:ext>
            </a:extLst>
          </p:cNvPr>
          <p:cNvSpPr>
            <a:spLocks xmlns:a="http://schemas.openxmlformats.org/drawingml/2006/main" noGrp="1"/>
          </p:cNvSpPr>
          <p:nvPr/>
        </p:nvSpPr>
        <p:spPr>
          <a:xfrm xmlns:a="http://schemas.openxmlformats.org/drawingml/2006/main">
            <a:off x="819150" y="590550"/>
            <a:ext cx="27432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0F8C68"/>
                </a:solidFill>
              </a:defRPr>
            </a:pPr>
            <a:r>
              <a:rPr sz="1500" b="1" i="0">
                <a:solidFill>
                  <a:srgbClr val="0F8C68"/>
                </a:solidFill>
              </a:rPr>
              <a:t>ENGINE | AGI SYNTHESIZES CHAOS</a:t>
            </a:r>
          </a:p>
        </p:txBody>
      </p:sp>
      <p:sp>
        <p:nvSpPr>
          <p:cNvPr id="3" name="slide-title-6">
            <a:extLst xmlns:a="http://schemas.openxmlformats.org/drawingml/2006/main">
              <a:ext uri="{FF2B5EF4-FFF2-40B4-BE49-F238E27FC236}">
                <a16:creationId xmlns:a16="http://schemas.microsoft.com/office/drawing/2014/main" id="{E5EA8755-EC41-4FC2-A121-225172A2BDF3}"/>
              </a:ext>
            </a:extLst>
          </p:cNvPr>
          <p:cNvSpPr>
            <a:spLocks xmlns:a="http://schemas.openxmlformats.org/drawingml/2006/main" noGrp="1"/>
          </p:cNvSpPr>
          <p:nvPr/>
        </p:nvSpPr>
        <p:spPr>
          <a:xfrm xmlns:a="http://schemas.openxmlformats.org/drawingml/2006/main">
            <a:off x="819150" y="1219200"/>
            <a:ext cx="11830050" cy="1428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i="0">
                <a:solidFill>
                  <a:srgbClr val="12211D"/>
                </a:solidFill>
              </a:defRPr>
            </a:pPr>
            <a:r>
              <a:rPr sz="4650" b="1" i="0">
                <a:solidFill>
                  <a:srgbClr val="12211D"/>
                </a:solidFill>
              </a:rPr>
              <a:t>OmniWell turns scattered signals into meal-level precision.</a:t>
            </a:r>
          </a:p>
        </p:txBody>
      </p:sp>
      <p:sp>
        <p:nvSpPr>
          <p:cNvPr id="4" name="slide-subtitle-6">
            <a:extLst xmlns:a="http://schemas.openxmlformats.org/drawingml/2006/main">
              <a:ext uri="{FF2B5EF4-FFF2-40B4-BE49-F238E27FC236}">
                <a16:creationId xmlns:a16="http://schemas.microsoft.com/office/drawing/2014/main" id="{6DEA4C0D-061E-4236-BF6B-5B3FFA1D5A8C}"/>
              </a:ext>
            </a:extLst>
          </p:cNvPr>
          <p:cNvSpPr>
            <a:spLocks xmlns:a="http://schemas.openxmlformats.org/drawingml/2006/main" noGrp="1"/>
          </p:cNvSpPr>
          <p:nvPr/>
        </p:nvSpPr>
        <p:spPr>
          <a:xfrm xmlns:a="http://schemas.openxmlformats.org/drawingml/2006/main">
            <a:off x="819150" y="2800350"/>
            <a:ext cx="1102995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i="0">
                <a:solidFill>
                  <a:srgbClr val="0E3832"/>
                </a:solidFill>
              </a:defRPr>
            </a:pPr>
            <a:r>
              <a:rPr sz="2100" b="0" i="0">
                <a:solidFill>
                  <a:srgbClr val="0E3832"/>
                </a:solidFill>
              </a:rPr>
              <a:t>Static profile, dynamic body state, and environment become one recommendation the user can act on now.</a:t>
            </a:r>
          </a:p>
        </p:txBody>
      </p:sp>
      <p:sp>
        <p:nvSpPr>
          <p:cNvPr id="5" name="pill-engine-1">
            <a:extLst xmlns:a="http://schemas.openxmlformats.org/drawingml/2006/main">
              <a:ext uri="{FF2B5EF4-FFF2-40B4-BE49-F238E27FC236}">
                <a16:creationId xmlns:a16="http://schemas.microsoft.com/office/drawing/2014/main" id="{0668DCC2-74BD-40DF-BC8D-FB7D6023AEEA}"/>
              </a:ext>
            </a:extLst>
          </p:cNvPr>
          <p:cNvSpPr>
            <a:spLocks xmlns:a="http://schemas.openxmlformats.org/drawingml/2006/main" noGrp="1"/>
          </p:cNvSpPr>
          <p:nvPr/>
        </p:nvSpPr>
        <p:spPr>
          <a:xfrm xmlns:a="http://schemas.openxmlformats.org/drawingml/2006/main">
            <a:off x="819150" y="5275898"/>
            <a:ext cx="3143250" cy="457200"/>
          </a:xfrm>
          <a:prstGeom xmlns:a="http://schemas.openxmlformats.org/drawingml/2006/main" prst="roundRect">
            <a:avLst>
              <a:gd name="adj" fmla="val 50000"/>
            </a:avLst>
          </a:prstGeom>
          <a:solidFill xmlns:a="http://schemas.openxmlformats.org/drawingml/2006/main">
            <a:srgbClr val="0E3832"/>
          </a:solidFill>
        </p:spPr>
      </p:sp>
      <p:sp>
        <p:nvSpPr>
          <p:cNvPr id="6" name="pill-text-engine-1">
            <a:extLst xmlns:a="http://schemas.openxmlformats.org/drawingml/2006/main">
              <a:ext uri="{FF2B5EF4-FFF2-40B4-BE49-F238E27FC236}">
                <a16:creationId xmlns:a16="http://schemas.microsoft.com/office/drawing/2014/main" id="{2F48321C-5D09-4FE3-A93F-4D0C6FDCDF2E}"/>
              </a:ext>
            </a:extLst>
          </p:cNvPr>
          <p:cNvSpPr>
            <a:spLocks xmlns:a="http://schemas.openxmlformats.org/drawingml/2006/main" noGrp="1"/>
          </p:cNvSpPr>
          <p:nvPr/>
        </p:nvSpPr>
        <p:spPr>
          <a:xfrm xmlns:a="http://schemas.openxmlformats.org/drawingml/2006/main">
            <a:off x="1009650" y="5391150"/>
            <a:ext cx="27622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FFFFFF"/>
                </a:solidFill>
              </a:defRPr>
            </a:pPr>
            <a:r>
              <a:rPr sz="1500" b="1" i="0">
                <a:solidFill>
                  <a:srgbClr val="FFFFFF"/>
                </a:solidFill>
              </a:rPr>
              <a:t>Static profile</a:t>
            </a:r>
          </a:p>
        </p:txBody>
      </p:sp>
      <p:sp>
        <p:nvSpPr>
          <p:cNvPr id="7" name="pill-engine-2">
            <a:extLst xmlns:a="http://schemas.openxmlformats.org/drawingml/2006/main">
              <a:ext uri="{FF2B5EF4-FFF2-40B4-BE49-F238E27FC236}">
                <a16:creationId xmlns:a16="http://schemas.microsoft.com/office/drawing/2014/main" id="{5120218F-C114-4428-ADE1-74BCD7CCD8C6}"/>
              </a:ext>
            </a:extLst>
          </p:cNvPr>
          <p:cNvSpPr>
            <a:spLocks xmlns:a="http://schemas.openxmlformats.org/drawingml/2006/main" noGrp="1"/>
          </p:cNvSpPr>
          <p:nvPr/>
        </p:nvSpPr>
        <p:spPr>
          <a:xfrm xmlns:a="http://schemas.openxmlformats.org/drawingml/2006/main">
            <a:off x="5321300" y="5275898"/>
            <a:ext cx="3143250" cy="457200"/>
          </a:xfrm>
          <a:prstGeom xmlns:a="http://schemas.openxmlformats.org/drawingml/2006/main" prst="roundRect">
            <a:avLst>
              <a:gd name="adj" fmla="val 50000"/>
            </a:avLst>
          </a:prstGeom>
          <a:solidFill xmlns:a="http://schemas.openxmlformats.org/drawingml/2006/main">
            <a:srgbClr val="0F8C68"/>
          </a:solidFill>
        </p:spPr>
      </p:sp>
      <p:sp>
        <p:nvSpPr>
          <p:cNvPr id="8" name="pill-text-engine-2">
            <a:extLst xmlns:a="http://schemas.openxmlformats.org/drawingml/2006/main">
              <a:ext uri="{FF2B5EF4-FFF2-40B4-BE49-F238E27FC236}">
                <a16:creationId xmlns:a16="http://schemas.microsoft.com/office/drawing/2014/main" id="{D687E8A5-82E9-484A-9D0D-F07F9F4F9C9C}"/>
              </a:ext>
            </a:extLst>
          </p:cNvPr>
          <p:cNvSpPr>
            <a:spLocks xmlns:a="http://schemas.openxmlformats.org/drawingml/2006/main" noGrp="1"/>
          </p:cNvSpPr>
          <p:nvPr/>
        </p:nvSpPr>
        <p:spPr>
          <a:xfrm xmlns:a="http://schemas.openxmlformats.org/drawingml/2006/main">
            <a:off x="5505450" y="5391150"/>
            <a:ext cx="27622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FFFFFF"/>
                </a:solidFill>
              </a:defRPr>
            </a:pPr>
            <a:r>
              <a:rPr sz="1500" b="1" i="0">
                <a:solidFill>
                  <a:srgbClr val="FFFFFF"/>
                </a:solidFill>
              </a:rPr>
              <a:t>Dynamic body</a:t>
            </a:r>
          </a:p>
        </p:txBody>
      </p:sp>
      <p:sp>
        <p:nvSpPr>
          <p:cNvPr id="9" name="pill-engine-3">
            <a:extLst xmlns:a="http://schemas.openxmlformats.org/drawingml/2006/main">
              <a:ext uri="{FF2B5EF4-FFF2-40B4-BE49-F238E27FC236}">
                <a16:creationId xmlns:a16="http://schemas.microsoft.com/office/drawing/2014/main" id="{56A2A9AE-DEDA-4386-8A49-633D3D625FFC}"/>
              </a:ext>
            </a:extLst>
          </p:cNvPr>
          <p:cNvSpPr>
            <a:spLocks xmlns:a="http://schemas.openxmlformats.org/drawingml/2006/main" noGrp="1"/>
          </p:cNvSpPr>
          <p:nvPr/>
        </p:nvSpPr>
        <p:spPr>
          <a:xfrm xmlns:a="http://schemas.openxmlformats.org/drawingml/2006/main">
            <a:off x="9823450" y="5275898"/>
            <a:ext cx="3143250" cy="457200"/>
          </a:xfrm>
          <a:prstGeom xmlns:a="http://schemas.openxmlformats.org/drawingml/2006/main" prst="roundRect">
            <a:avLst>
              <a:gd name="adj" fmla="val 50000"/>
            </a:avLst>
          </a:prstGeom>
          <a:solidFill xmlns:a="http://schemas.openxmlformats.org/drawingml/2006/main">
            <a:srgbClr val="4CA7C5"/>
          </a:solidFill>
        </p:spPr>
      </p:sp>
      <p:sp>
        <p:nvSpPr>
          <p:cNvPr id="10" name="pill-text-engine-3">
            <a:extLst xmlns:a="http://schemas.openxmlformats.org/drawingml/2006/main">
              <a:ext uri="{FF2B5EF4-FFF2-40B4-BE49-F238E27FC236}">
                <a16:creationId xmlns:a16="http://schemas.microsoft.com/office/drawing/2014/main" id="{901A3029-FB9E-4A8C-9032-555279074B09}"/>
              </a:ext>
            </a:extLst>
          </p:cNvPr>
          <p:cNvSpPr>
            <a:spLocks xmlns:a="http://schemas.openxmlformats.org/drawingml/2006/main" noGrp="1"/>
          </p:cNvSpPr>
          <p:nvPr/>
        </p:nvSpPr>
        <p:spPr>
          <a:xfrm xmlns:a="http://schemas.openxmlformats.org/drawingml/2006/main">
            <a:off x="10020300" y="5391150"/>
            <a:ext cx="27622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FFFFFF"/>
                </a:solidFill>
              </a:defRPr>
            </a:pPr>
            <a:r>
              <a:rPr sz="1500" b="1" i="0">
                <a:solidFill>
                  <a:srgbClr val="FFFFFF"/>
                </a:solidFill>
              </a:rPr>
              <a:t>Environment</a:t>
            </a:r>
          </a:p>
        </p:txBody>
      </p:sp>
      <p:sp>
        <p:nvSpPr>
          <p:cNvPr id="11" name="pill-engine-4">
            <a:extLst xmlns:a="http://schemas.openxmlformats.org/drawingml/2006/main">
              <a:ext uri="{FF2B5EF4-FFF2-40B4-BE49-F238E27FC236}">
                <a16:creationId xmlns:a16="http://schemas.microsoft.com/office/drawing/2014/main" id="{FDFBD291-07D5-4695-8B51-6A5B269EFC4F}"/>
              </a:ext>
            </a:extLst>
          </p:cNvPr>
          <p:cNvSpPr>
            <a:spLocks xmlns:a="http://schemas.openxmlformats.org/drawingml/2006/main" noGrp="1"/>
          </p:cNvSpPr>
          <p:nvPr/>
        </p:nvSpPr>
        <p:spPr>
          <a:xfrm xmlns:a="http://schemas.openxmlformats.org/drawingml/2006/main">
            <a:off x="14325600" y="5275898"/>
            <a:ext cx="3143250" cy="457200"/>
          </a:xfrm>
          <a:prstGeom xmlns:a="http://schemas.openxmlformats.org/drawingml/2006/main" prst="roundRect">
            <a:avLst>
              <a:gd name="adj" fmla="val 50000"/>
            </a:avLst>
          </a:prstGeom>
          <a:solidFill xmlns:a="http://schemas.openxmlformats.org/drawingml/2006/main">
            <a:srgbClr val="F06C3E"/>
          </a:solidFill>
        </p:spPr>
      </p:sp>
      <p:sp>
        <p:nvSpPr>
          <p:cNvPr id="12" name="pill-text-engine-4">
            <a:extLst xmlns:a="http://schemas.openxmlformats.org/drawingml/2006/main">
              <a:ext uri="{FF2B5EF4-FFF2-40B4-BE49-F238E27FC236}">
                <a16:creationId xmlns:a16="http://schemas.microsoft.com/office/drawing/2014/main" id="{779F9946-3ED9-49A6-8456-BBBE84573A6B}"/>
              </a:ext>
            </a:extLst>
          </p:cNvPr>
          <p:cNvSpPr>
            <a:spLocks xmlns:a="http://schemas.openxmlformats.org/drawingml/2006/main" noGrp="1"/>
          </p:cNvSpPr>
          <p:nvPr/>
        </p:nvSpPr>
        <p:spPr>
          <a:xfrm xmlns:a="http://schemas.openxmlformats.org/drawingml/2006/main">
            <a:off x="14516100" y="5391150"/>
            <a:ext cx="27622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FFFFFF"/>
                </a:solidFill>
              </a:defRPr>
            </a:pPr>
            <a:r>
              <a:rPr sz="1500" b="1" i="0">
                <a:solidFill>
                  <a:srgbClr val="FFFFFF"/>
                </a:solidFill>
              </a:rPr>
              <a:t>Meal signal</a:t>
            </a:r>
          </a:p>
        </p:txBody>
      </p:sp>
      <p:sp>
        <p:nvSpPr>
          <p:cNvPr id="13" name="engine-rule">
            <a:extLst xmlns:a="http://schemas.openxmlformats.org/drawingml/2006/main">
              <a:ext uri="{FF2B5EF4-FFF2-40B4-BE49-F238E27FC236}">
                <a16:creationId xmlns:a16="http://schemas.microsoft.com/office/drawing/2014/main" id="{03188239-6377-4C1C-B603-745F44B8CDA5}"/>
              </a:ext>
            </a:extLst>
          </p:cNvPr>
          <p:cNvSpPr>
            <a:spLocks xmlns:a="http://schemas.openxmlformats.org/drawingml/2006/main" noGrp="1"/>
          </p:cNvSpPr>
          <p:nvPr/>
        </p:nvSpPr>
        <p:spPr>
          <a:xfrm xmlns:a="http://schemas.openxmlformats.org/drawingml/2006/main">
            <a:off x="819150" y="6057900"/>
            <a:ext cx="16649700" cy="47625"/>
          </a:xfrm>
          <a:prstGeom xmlns:a="http://schemas.openxmlformats.org/drawingml/2006/main" prst="rect">
            <a:avLst/>
          </a:prstGeom>
          <a:solidFill xmlns:a="http://schemas.openxmlformats.org/drawingml/2006/main">
            <a:srgbClr val="F0BE49"/>
          </a:solidFill>
          <a:ln xmlns:a="http://schemas.openxmlformats.org/drawingml/2006/main" w="0">
            <a:solidFill>
              <a:srgbClr val="F0BE49"/>
            </a:solidFill>
            <a:prstDash val="solid"/>
          </a:ln>
        </p:spPr>
      </p:sp>
      <p:sp>
        <p:nvSpPr>
          <p:cNvPr id="14" name="engine-core">
            <a:extLst xmlns:a="http://schemas.openxmlformats.org/drawingml/2006/main">
              <a:ext uri="{FF2B5EF4-FFF2-40B4-BE49-F238E27FC236}">
                <a16:creationId xmlns:a16="http://schemas.microsoft.com/office/drawing/2014/main" id="{35E7644C-CD57-4BE5-8FFF-DC598BE14B72}"/>
              </a:ext>
            </a:extLst>
          </p:cNvPr>
          <p:cNvSpPr>
            <a:spLocks xmlns:a="http://schemas.openxmlformats.org/drawingml/2006/main" noGrp="1"/>
          </p:cNvSpPr>
          <p:nvPr/>
        </p:nvSpPr>
        <p:spPr>
          <a:xfrm xmlns:a="http://schemas.openxmlformats.org/drawingml/2006/main">
            <a:off x="819150" y="6438900"/>
            <a:ext cx="4152900" cy="1219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i="0">
                <a:solidFill>
                  <a:srgbClr val="0F8C68"/>
                </a:solidFill>
              </a:defRPr>
            </a:pPr>
            <a:r>
              <a:rPr sz="4050" b="1" i="0">
                <a:solidFill>
                  <a:srgbClr val="0F8C68"/>
                </a:solidFill>
              </a:rPr>
              <a:t>AGI reasoning layer</a:t>
            </a:r>
          </a:p>
        </p:txBody>
      </p:sp>
      <p:sp>
        <p:nvSpPr>
          <p:cNvPr id="15" name="engine-output-text">
            <a:extLst xmlns:a="http://schemas.openxmlformats.org/drawingml/2006/main">
              <a:ext uri="{FF2B5EF4-FFF2-40B4-BE49-F238E27FC236}">
                <a16:creationId xmlns:a16="http://schemas.microsoft.com/office/drawing/2014/main" id="{B39FD520-625F-40BD-AFE2-C7145C818229}"/>
              </a:ext>
            </a:extLst>
          </p:cNvPr>
          <p:cNvSpPr>
            <a:spLocks xmlns:a="http://schemas.openxmlformats.org/drawingml/2006/main" noGrp="1"/>
          </p:cNvSpPr>
          <p:nvPr/>
        </p:nvSpPr>
        <p:spPr>
          <a:xfrm xmlns:a="http://schemas.openxmlformats.org/drawingml/2006/main">
            <a:off x="5257800" y="6667500"/>
            <a:ext cx="813435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i="0">
                <a:solidFill>
                  <a:srgbClr val="12211D"/>
                </a:solidFill>
              </a:defRPr>
            </a:pPr>
            <a:r>
              <a:rPr sz="2550" b="1" i="0">
                <a:solidFill>
                  <a:srgbClr val="12211D"/>
                </a:solidFill>
              </a:rPr>
              <a:t>recommends the safest local ingredient, portion, timing, and healing support.</a:t>
            </a:r>
          </a:p>
        </p:txBody>
      </p:sp>
      <p:sp>
        <p:nvSpPr>
          <p:cNvPr id="16" name="footer-label-6">
            <a:extLst xmlns:a="http://schemas.openxmlformats.org/drawingml/2006/main">
              <a:ext uri="{FF2B5EF4-FFF2-40B4-BE49-F238E27FC236}">
                <a16:creationId xmlns:a16="http://schemas.microsoft.com/office/drawing/2014/main" id="{50505E5B-18DA-49BA-950B-E83D76B74B8D}"/>
              </a:ext>
            </a:extLst>
          </p:cNvPr>
          <p:cNvSpPr>
            <a:spLocks xmlns:a="http://schemas.openxmlformats.org/drawingml/2006/main" noGrp="1"/>
          </p:cNvSpPr>
          <p:nvPr/>
        </p:nvSpPr>
        <p:spPr>
          <a:xfrm xmlns:a="http://schemas.openxmlformats.org/drawingml/2006/main">
            <a:off x="819150" y="9505950"/>
            <a:ext cx="23050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i="0">
                <a:solidFill>
                  <a:srgbClr val="6F7C73"/>
                </a:solidFill>
              </a:defRPr>
            </a:pPr>
            <a:r>
              <a:rPr sz="1350" b="0" i="0">
                <a:solidFill>
                  <a:srgbClr val="6F7C73"/>
                </a:solidFill>
              </a:rPr>
              <a:t>OmniWell Thai | Hackathon Pitch</a:t>
            </a:r>
          </a:p>
        </p:txBody>
      </p:sp>
      <p:sp>
        <p:nvSpPr>
          <p:cNvPr id="17" name="footer-number-6">
            <a:extLst xmlns:a="http://schemas.openxmlformats.org/drawingml/2006/main">
              <a:ext uri="{FF2B5EF4-FFF2-40B4-BE49-F238E27FC236}">
                <a16:creationId xmlns:a16="http://schemas.microsoft.com/office/drawing/2014/main" id="{653E2A90-B2B5-4BEF-B536-DAC23D314FAF}"/>
              </a:ext>
            </a:extLst>
          </p:cNvPr>
          <p:cNvSpPr>
            <a:spLocks xmlns:a="http://schemas.openxmlformats.org/drawingml/2006/main" noGrp="1"/>
          </p:cNvSpPr>
          <p:nvPr/>
        </p:nvSpPr>
        <p:spPr>
          <a:xfrm xmlns:a="http://schemas.openxmlformats.org/drawingml/2006/main">
            <a:off x="16935450" y="9505950"/>
            <a:ext cx="5334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i="0">
                <a:solidFill>
                  <a:srgbClr val="6F7C73"/>
                </a:solidFill>
              </a:defRPr>
            </a:pPr>
            <a:r>
              <a:rPr sz="1350" b="1" i="0">
                <a:solidFill>
                  <a:srgbClr val="6F7C73"/>
                </a:solidFill>
              </a:rPr>
              <a:t>06</a:t>
            </a:r>
          </a:p>
        </p:txBody>
      </p:sp>
    </p:spTree>
    <p:extLst>
      <p:ext uri="{BB962C8B-B14F-4D97-AF65-F5344CB8AC3E}">
        <p14:creationId xmlns:p14="http://schemas.microsoft.com/office/powerpoint/2010/main" val="34981850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9066BD8B-4F89-4790-A140-33ACF768C77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8F1E1"/>
          </a:solidFill>
        </p:spPr>
      </p:sp>
      <p:sp>
        <p:nvSpPr>
          <p:cNvPr id="2" name="eyebrow-7">
            <a:extLst xmlns:a="http://schemas.openxmlformats.org/drawingml/2006/main">
              <a:ext uri="{FF2B5EF4-FFF2-40B4-BE49-F238E27FC236}">
                <a16:creationId xmlns:a16="http://schemas.microsoft.com/office/drawing/2014/main" id="{3BB8C5C3-CC22-4332-A39E-ED8BC6B62774}"/>
              </a:ext>
            </a:extLst>
          </p:cNvPr>
          <p:cNvSpPr>
            <a:spLocks xmlns:a="http://schemas.openxmlformats.org/drawingml/2006/main" noGrp="1"/>
          </p:cNvSpPr>
          <p:nvPr/>
        </p:nvSpPr>
        <p:spPr>
          <a:xfrm xmlns:a="http://schemas.openxmlformats.org/drawingml/2006/main">
            <a:off x="819150" y="590550"/>
            <a:ext cx="30099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0F8C68"/>
                </a:solidFill>
              </a:defRPr>
            </a:pPr>
            <a:r>
              <a:rPr sz="1500" b="1" i="0">
                <a:solidFill>
                  <a:srgbClr val="0F8C68"/>
                </a:solidFill>
              </a:rPr>
              <a:t>EXPERIENCE | FROM DATA TO DINNER</a:t>
            </a:r>
          </a:p>
        </p:txBody>
      </p:sp>
      <p:sp>
        <p:nvSpPr>
          <p:cNvPr id="3" name="slide-title-7">
            <a:extLst xmlns:a="http://schemas.openxmlformats.org/drawingml/2006/main">
              <a:ext uri="{FF2B5EF4-FFF2-40B4-BE49-F238E27FC236}">
                <a16:creationId xmlns:a16="http://schemas.microsoft.com/office/drawing/2014/main" id="{BEDC2788-2D7D-45C5-AC01-4236DE24D202}"/>
              </a:ext>
            </a:extLst>
          </p:cNvPr>
          <p:cNvSpPr>
            <a:spLocks xmlns:a="http://schemas.openxmlformats.org/drawingml/2006/main" noGrp="1"/>
          </p:cNvSpPr>
          <p:nvPr/>
        </p:nvSpPr>
        <p:spPr>
          <a:xfrm xmlns:a="http://schemas.openxmlformats.org/drawingml/2006/main">
            <a:off x="819150" y="1219200"/>
            <a:ext cx="12458700" cy="1428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i="0">
                <a:solidFill>
                  <a:srgbClr val="12211D"/>
                </a:solidFill>
              </a:defRPr>
            </a:pPr>
            <a:r>
              <a:rPr sz="4650" b="1" i="0">
                <a:solidFill>
                  <a:srgbClr val="12211D"/>
                </a:solidFill>
              </a:rPr>
              <a:t>The recommendation must feel like Thailand, not a imported diet plan.</a:t>
            </a:r>
          </a:p>
        </p:txBody>
      </p:sp>
      <p:sp>
        <p:nvSpPr>
          <p:cNvPr id="4" name="slide-subtitle-7">
            <a:extLst xmlns:a="http://schemas.openxmlformats.org/drawingml/2006/main">
              <a:ext uri="{FF2B5EF4-FFF2-40B4-BE49-F238E27FC236}">
                <a16:creationId xmlns:a16="http://schemas.microsoft.com/office/drawing/2014/main" id="{233DCF30-B435-42F8-B7EF-355664E84048}"/>
              </a:ext>
            </a:extLst>
          </p:cNvPr>
          <p:cNvSpPr>
            <a:spLocks xmlns:a="http://schemas.openxmlformats.org/drawingml/2006/main" noGrp="1"/>
          </p:cNvSpPr>
          <p:nvPr/>
        </p:nvSpPr>
        <p:spPr>
          <a:xfrm xmlns:a="http://schemas.openxmlformats.org/drawingml/2006/main">
            <a:off x="819150" y="2800350"/>
            <a:ext cx="5810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i="0">
                <a:solidFill>
                  <a:srgbClr val="0E3832"/>
                </a:solidFill>
              </a:defRPr>
            </a:pPr>
            <a:r>
              <a:rPr sz="2100" b="0" i="0">
                <a:solidFill>
                  <a:srgbClr val="0E3832"/>
                </a:solidFill>
              </a:rPr>
              <a:t>Local, accessible ingredients make the science usable.</a:t>
            </a:r>
          </a:p>
        </p:txBody>
      </p:sp>
      <p:sp>
        <p:nvSpPr>
          <p:cNvPr id="5" name="example-kicker">
            <a:extLst xmlns:a="http://schemas.openxmlformats.org/drawingml/2006/main">
              <a:ext uri="{FF2B5EF4-FFF2-40B4-BE49-F238E27FC236}">
                <a16:creationId xmlns:a16="http://schemas.microsoft.com/office/drawing/2014/main" id="{57D9F154-E92B-4E17-BCA3-9F77EA6FA1ED}"/>
              </a:ext>
            </a:extLst>
          </p:cNvPr>
          <p:cNvSpPr>
            <a:spLocks xmlns:a="http://schemas.openxmlformats.org/drawingml/2006/main" noGrp="1"/>
          </p:cNvSpPr>
          <p:nvPr/>
        </p:nvSpPr>
        <p:spPr>
          <a:xfrm xmlns:a="http://schemas.openxmlformats.org/drawingml/2006/main">
            <a:off x="819150" y="4743450"/>
            <a:ext cx="73342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i="0">
                <a:solidFill>
                  <a:srgbClr val="0F8C68"/>
                </a:solidFill>
              </a:defRPr>
            </a:pPr>
            <a:r>
              <a:rPr sz="1800" b="1" i="0">
                <a:solidFill>
                  <a:srgbClr val="0F8C68"/>
                </a:solidFill>
              </a:rPr>
              <a:t>Tonight's nudge</a:t>
            </a:r>
          </a:p>
        </p:txBody>
      </p:sp>
      <p:sp>
        <p:nvSpPr>
          <p:cNvPr id="6" name="example-title">
            <a:extLst xmlns:a="http://schemas.openxmlformats.org/drawingml/2006/main">
              <a:ext uri="{FF2B5EF4-FFF2-40B4-BE49-F238E27FC236}">
                <a16:creationId xmlns:a16="http://schemas.microsoft.com/office/drawing/2014/main" id="{D45D9971-1DF7-41A9-AB0E-26AF0B9601E0}"/>
              </a:ext>
            </a:extLst>
          </p:cNvPr>
          <p:cNvSpPr>
            <a:spLocks xmlns:a="http://schemas.openxmlformats.org/drawingml/2006/main" noGrp="1"/>
          </p:cNvSpPr>
          <p:nvPr/>
        </p:nvSpPr>
        <p:spPr>
          <a:xfrm xmlns:a="http://schemas.openxmlformats.org/drawingml/2006/main">
            <a:off x="819150" y="5200650"/>
            <a:ext cx="4552950" cy="2667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i="0">
                <a:solidFill>
                  <a:srgbClr val="12211D"/>
                </a:solidFill>
              </a:defRPr>
            </a:pPr>
            <a:r>
              <a:rPr sz="4350" b="1" i="0">
                <a:solidFill>
                  <a:srgbClr val="12211D"/>
                </a:solidFill>
              </a:rPr>
              <a:t>Choose gaeng liang,</a:t>
            </a:r>
          </a:p>
          <a:p xmlns:a="http://schemas.openxmlformats.org/drawingml/2006/main">
            <a:pPr>
              <a:defRPr sz="4350" b="1" i="0">
                <a:solidFill>
                  <a:srgbClr val="12211D"/>
                </a:solidFill>
              </a:defRPr>
            </a:pPr>
            <a:r>
              <a:rPr sz="4350" b="1" i="0">
                <a:solidFill>
                  <a:srgbClr val="12211D"/>
                </a:solidFill>
              </a:rPr>
              <a:t>brown rice,</a:t>
            </a:r>
          </a:p>
          <a:p xmlns:a="http://schemas.openxmlformats.org/drawingml/2006/main">
            <a:pPr>
              <a:defRPr sz="4350" b="1" i="0">
                <a:solidFill>
                  <a:srgbClr val="12211D"/>
                </a:solidFill>
              </a:defRPr>
            </a:pPr>
            <a:r>
              <a:rPr sz="4350" b="1" i="0">
                <a:solidFill>
                  <a:srgbClr val="12211D"/>
                </a:solidFill>
              </a:rPr>
              <a:t>and grilled fish.</a:t>
            </a:r>
          </a:p>
        </p:txBody>
      </p:sp>
      <p:sp>
        <p:nvSpPr>
          <p:cNvPr id="7" name="example-dot-1">
            <a:extLst xmlns:a="http://schemas.openxmlformats.org/drawingml/2006/main">
              <a:ext uri="{FF2B5EF4-FFF2-40B4-BE49-F238E27FC236}">
                <a16:creationId xmlns:a16="http://schemas.microsoft.com/office/drawing/2014/main" id="{E536A8B0-281C-49A5-8199-633C19071DCD}"/>
              </a:ext>
            </a:extLst>
          </p:cNvPr>
          <p:cNvSpPr>
            <a:spLocks xmlns:a="http://schemas.openxmlformats.org/drawingml/2006/main" noGrp="1"/>
          </p:cNvSpPr>
          <p:nvPr/>
        </p:nvSpPr>
        <p:spPr>
          <a:xfrm xmlns:a="http://schemas.openxmlformats.org/drawingml/2006/main">
            <a:off x="8839200" y="5562600"/>
            <a:ext cx="209550" cy="209550"/>
          </a:xfrm>
          <a:prstGeom xmlns:a="http://schemas.openxmlformats.org/drawingml/2006/main" prst="ellipse">
            <a:avLst/>
          </a:prstGeom>
          <a:solidFill xmlns:a="http://schemas.openxmlformats.org/drawingml/2006/main">
            <a:srgbClr val="0F8C68"/>
          </a:solidFill>
        </p:spPr>
      </p:sp>
      <p:sp>
        <p:nvSpPr>
          <p:cNvPr id="8" name="example-text-1">
            <a:extLst xmlns:a="http://schemas.openxmlformats.org/drawingml/2006/main">
              <a:ext uri="{FF2B5EF4-FFF2-40B4-BE49-F238E27FC236}">
                <a16:creationId xmlns:a16="http://schemas.microsoft.com/office/drawing/2014/main" id="{DE7F2768-D9D2-400B-94FB-CC35B09AFD6E}"/>
              </a:ext>
            </a:extLst>
          </p:cNvPr>
          <p:cNvSpPr>
            <a:spLocks xmlns:a="http://schemas.openxmlformats.org/drawingml/2006/main" noGrp="1"/>
          </p:cNvSpPr>
          <p:nvPr/>
        </p:nvSpPr>
        <p:spPr>
          <a:xfrm xmlns:a="http://schemas.openxmlformats.org/drawingml/2006/main">
            <a:off x="9220200" y="5543550"/>
            <a:ext cx="82486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i="0">
                <a:solidFill>
                  <a:srgbClr val="0E3832"/>
                </a:solidFill>
              </a:defRPr>
            </a:pPr>
            <a:r>
              <a:rPr sz="2325" b="1" i="0">
                <a:solidFill>
                  <a:srgbClr val="0E3832"/>
                </a:solidFill>
              </a:rPr>
              <a:t>Because sleep was low and PM2.5 is high.</a:t>
            </a:r>
          </a:p>
        </p:txBody>
      </p:sp>
      <p:sp>
        <p:nvSpPr>
          <p:cNvPr id="9" name="example-dot-2">
            <a:extLst xmlns:a="http://schemas.openxmlformats.org/drawingml/2006/main">
              <a:ext uri="{FF2B5EF4-FFF2-40B4-BE49-F238E27FC236}">
                <a16:creationId xmlns:a16="http://schemas.microsoft.com/office/drawing/2014/main" id="{D5501C60-A53A-4BE5-8576-A330BAC91E8F}"/>
              </a:ext>
            </a:extLst>
          </p:cNvPr>
          <p:cNvSpPr>
            <a:spLocks xmlns:a="http://schemas.openxmlformats.org/drawingml/2006/main" noGrp="1"/>
          </p:cNvSpPr>
          <p:nvPr/>
        </p:nvSpPr>
        <p:spPr>
          <a:xfrm xmlns:a="http://schemas.openxmlformats.org/drawingml/2006/main">
            <a:off x="8839200" y="6134100"/>
            <a:ext cx="209550" cy="209550"/>
          </a:xfrm>
          <a:prstGeom xmlns:a="http://schemas.openxmlformats.org/drawingml/2006/main" prst="ellipse">
            <a:avLst/>
          </a:prstGeom>
          <a:solidFill xmlns:a="http://schemas.openxmlformats.org/drawingml/2006/main">
            <a:srgbClr val="F06C3E"/>
          </a:solidFill>
        </p:spPr>
      </p:sp>
      <p:sp>
        <p:nvSpPr>
          <p:cNvPr id="10" name="example-text-2">
            <a:extLst xmlns:a="http://schemas.openxmlformats.org/drawingml/2006/main">
              <a:ext uri="{FF2B5EF4-FFF2-40B4-BE49-F238E27FC236}">
                <a16:creationId xmlns:a16="http://schemas.microsoft.com/office/drawing/2014/main" id="{9339966D-FF3B-4A89-9A3A-A4B7E6285BE1}"/>
              </a:ext>
            </a:extLst>
          </p:cNvPr>
          <p:cNvSpPr>
            <a:spLocks xmlns:a="http://schemas.openxmlformats.org/drawingml/2006/main" noGrp="1"/>
          </p:cNvSpPr>
          <p:nvPr/>
        </p:nvSpPr>
        <p:spPr>
          <a:xfrm xmlns:a="http://schemas.openxmlformats.org/drawingml/2006/main">
            <a:off x="9220200" y="6134100"/>
            <a:ext cx="82486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i="0">
                <a:solidFill>
                  <a:srgbClr val="0E3832"/>
                </a:solidFill>
              </a:defRPr>
            </a:pPr>
            <a:r>
              <a:rPr sz="2325" b="1" i="0">
                <a:solidFill>
                  <a:srgbClr val="0E3832"/>
                </a:solidFill>
              </a:rPr>
              <a:t>Reduce sodium; the spoon will tap before the threshold.</a:t>
            </a:r>
          </a:p>
        </p:txBody>
      </p:sp>
      <p:sp>
        <p:nvSpPr>
          <p:cNvPr id="11" name="example-dot-3">
            <a:extLst xmlns:a="http://schemas.openxmlformats.org/drawingml/2006/main">
              <a:ext uri="{FF2B5EF4-FFF2-40B4-BE49-F238E27FC236}">
                <a16:creationId xmlns:a16="http://schemas.microsoft.com/office/drawing/2014/main" id="{36EAB3AD-9673-4F75-9BF3-FCC1215E196A}"/>
              </a:ext>
            </a:extLst>
          </p:cNvPr>
          <p:cNvSpPr>
            <a:spLocks xmlns:a="http://schemas.openxmlformats.org/drawingml/2006/main" noGrp="1"/>
          </p:cNvSpPr>
          <p:nvPr/>
        </p:nvSpPr>
        <p:spPr>
          <a:xfrm xmlns:a="http://schemas.openxmlformats.org/drawingml/2006/main">
            <a:off x="8839200" y="6705600"/>
            <a:ext cx="209550" cy="209550"/>
          </a:xfrm>
          <a:prstGeom xmlns:a="http://schemas.openxmlformats.org/drawingml/2006/main" prst="ellipse">
            <a:avLst/>
          </a:prstGeom>
          <a:solidFill xmlns:a="http://schemas.openxmlformats.org/drawingml/2006/main">
            <a:srgbClr val="4CA7C5"/>
          </a:solidFill>
        </p:spPr>
      </p:sp>
      <p:sp>
        <p:nvSpPr>
          <p:cNvPr id="12" name="example-text-3">
            <a:extLst xmlns:a="http://schemas.openxmlformats.org/drawingml/2006/main">
              <a:ext uri="{FF2B5EF4-FFF2-40B4-BE49-F238E27FC236}">
                <a16:creationId xmlns:a16="http://schemas.microsoft.com/office/drawing/2014/main" id="{C884519B-A451-4F1A-B666-AA38B5C60FC9}"/>
              </a:ext>
            </a:extLst>
          </p:cNvPr>
          <p:cNvSpPr>
            <a:spLocks xmlns:a="http://schemas.openxmlformats.org/drawingml/2006/main" noGrp="1"/>
          </p:cNvSpPr>
          <p:nvPr/>
        </p:nvSpPr>
        <p:spPr>
          <a:xfrm xmlns:a="http://schemas.openxmlformats.org/drawingml/2006/main">
            <a:off x="9220200" y="6705600"/>
            <a:ext cx="82486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i="0">
                <a:solidFill>
                  <a:srgbClr val="0E3832"/>
                </a:solidFill>
              </a:defRPr>
            </a:pPr>
            <a:r>
              <a:rPr sz="2325" b="1" i="0">
                <a:solidFill>
                  <a:srgbClr val="0E3832"/>
                </a:solidFill>
              </a:rPr>
              <a:t>Pair with breathwork or sound therapy after dinner.</a:t>
            </a:r>
          </a:p>
        </p:txBody>
      </p:sp>
      <p:sp>
        <p:nvSpPr>
          <p:cNvPr id="13" name="footer-label-7">
            <a:extLst xmlns:a="http://schemas.openxmlformats.org/drawingml/2006/main">
              <a:ext uri="{FF2B5EF4-FFF2-40B4-BE49-F238E27FC236}">
                <a16:creationId xmlns:a16="http://schemas.microsoft.com/office/drawing/2014/main" id="{649210A3-3F80-4C59-895C-2BFA6B415B94}"/>
              </a:ext>
            </a:extLst>
          </p:cNvPr>
          <p:cNvSpPr>
            <a:spLocks xmlns:a="http://schemas.openxmlformats.org/drawingml/2006/main" noGrp="1"/>
          </p:cNvSpPr>
          <p:nvPr/>
        </p:nvSpPr>
        <p:spPr>
          <a:xfrm xmlns:a="http://schemas.openxmlformats.org/drawingml/2006/main">
            <a:off x="819150" y="9505950"/>
            <a:ext cx="23050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i="0">
                <a:solidFill>
                  <a:srgbClr val="6F7C73"/>
                </a:solidFill>
              </a:defRPr>
            </a:pPr>
            <a:r>
              <a:rPr sz="1350" b="0" i="0">
                <a:solidFill>
                  <a:srgbClr val="6F7C73"/>
                </a:solidFill>
              </a:rPr>
              <a:t>OmniWell Thai | Hackathon Pitch</a:t>
            </a:r>
          </a:p>
        </p:txBody>
      </p:sp>
      <p:sp>
        <p:nvSpPr>
          <p:cNvPr id="14" name="footer-number-7">
            <a:extLst xmlns:a="http://schemas.openxmlformats.org/drawingml/2006/main">
              <a:ext uri="{FF2B5EF4-FFF2-40B4-BE49-F238E27FC236}">
                <a16:creationId xmlns:a16="http://schemas.microsoft.com/office/drawing/2014/main" id="{E9EA5DEB-5E1F-41B6-823C-027A858935EE}"/>
              </a:ext>
            </a:extLst>
          </p:cNvPr>
          <p:cNvSpPr>
            <a:spLocks xmlns:a="http://schemas.openxmlformats.org/drawingml/2006/main" noGrp="1"/>
          </p:cNvSpPr>
          <p:nvPr/>
        </p:nvSpPr>
        <p:spPr>
          <a:xfrm xmlns:a="http://schemas.openxmlformats.org/drawingml/2006/main">
            <a:off x="16935450" y="9505950"/>
            <a:ext cx="5334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i="0">
                <a:solidFill>
                  <a:srgbClr val="6F7C73"/>
                </a:solidFill>
              </a:defRPr>
            </a:pPr>
            <a:r>
              <a:rPr sz="1350" b="1" i="0">
                <a:solidFill>
                  <a:srgbClr val="6F7C73"/>
                </a:solidFill>
              </a:rPr>
              <a:t>07</a:t>
            </a:r>
          </a:p>
        </p:txBody>
      </p:sp>
    </p:spTree>
    <p:extLst>
      <p:ext uri="{BB962C8B-B14F-4D97-AF65-F5344CB8AC3E}">
        <p14:creationId xmlns:p14="http://schemas.microsoft.com/office/powerpoint/2010/main" val="1824830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F02E8886-4753-44D0-AB97-6E3C62E1687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8F1E1"/>
          </a:solidFill>
        </p:spPr>
      </p:sp>
      <p:sp>
        <p:nvSpPr>
          <p:cNvPr id="2" name="eyebrow-8">
            <a:extLst xmlns:a="http://schemas.openxmlformats.org/drawingml/2006/main">
              <a:ext uri="{FF2B5EF4-FFF2-40B4-BE49-F238E27FC236}">
                <a16:creationId xmlns:a16="http://schemas.microsoft.com/office/drawing/2014/main" id="{330C8FF3-303A-47A2-AC8B-8CE51ECC8A9F}"/>
              </a:ext>
            </a:extLst>
          </p:cNvPr>
          <p:cNvSpPr>
            <a:spLocks xmlns:a="http://schemas.openxmlformats.org/drawingml/2006/main" noGrp="1"/>
          </p:cNvSpPr>
          <p:nvPr/>
        </p:nvSpPr>
        <p:spPr>
          <a:xfrm xmlns:a="http://schemas.openxmlformats.org/drawingml/2006/main">
            <a:off x="819150" y="590550"/>
            <a:ext cx="37719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0F8C68"/>
                </a:solidFill>
              </a:defRPr>
            </a:pPr>
            <a:r>
              <a:rPr sz="1500" b="1" i="0">
                <a:solidFill>
                  <a:srgbClr val="0F8C68"/>
                </a:solidFill>
              </a:rPr>
              <a:t>SOUL | THAI HEALING IS THE DEFENSIBLE LAYER</a:t>
            </a:r>
          </a:p>
        </p:txBody>
      </p:sp>
      <p:sp>
        <p:nvSpPr>
          <p:cNvPr id="3" name="slide-title-8">
            <a:extLst xmlns:a="http://schemas.openxmlformats.org/drawingml/2006/main">
              <a:ext uri="{FF2B5EF4-FFF2-40B4-BE49-F238E27FC236}">
                <a16:creationId xmlns:a16="http://schemas.microsoft.com/office/drawing/2014/main" id="{7E72D345-AB8B-4766-BBBE-13B667577460}"/>
              </a:ext>
            </a:extLst>
          </p:cNvPr>
          <p:cNvSpPr>
            <a:spLocks xmlns:a="http://schemas.openxmlformats.org/drawingml/2006/main" noGrp="1"/>
          </p:cNvSpPr>
          <p:nvPr/>
        </p:nvSpPr>
        <p:spPr>
          <a:xfrm xmlns:a="http://schemas.openxmlformats.org/drawingml/2006/main">
            <a:off x="819150" y="1219200"/>
            <a:ext cx="10191750" cy="1428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i="0">
                <a:solidFill>
                  <a:srgbClr val="12211D"/>
                </a:solidFill>
              </a:defRPr>
            </a:pPr>
            <a:r>
              <a:rPr sz="4650" b="1" i="0">
                <a:solidFill>
                  <a:srgbClr val="12211D"/>
                </a:solidFill>
              </a:rPr>
              <a:t>Nutrition is the entry point. Healing is the ecosystem.</a:t>
            </a:r>
          </a:p>
        </p:txBody>
      </p:sp>
      <p:sp>
        <p:nvSpPr>
          <p:cNvPr id="4" name="slide-subtitle-8">
            <a:extLst xmlns:a="http://schemas.openxmlformats.org/drawingml/2006/main">
              <a:ext uri="{FF2B5EF4-FFF2-40B4-BE49-F238E27FC236}">
                <a16:creationId xmlns:a16="http://schemas.microsoft.com/office/drawing/2014/main" id="{8C316100-8B78-425A-A1BB-E5F0FB4FEE4D}"/>
              </a:ext>
            </a:extLst>
          </p:cNvPr>
          <p:cNvSpPr>
            <a:spLocks xmlns:a="http://schemas.openxmlformats.org/drawingml/2006/main" noGrp="1"/>
          </p:cNvSpPr>
          <p:nvPr/>
        </p:nvSpPr>
        <p:spPr>
          <a:xfrm xmlns:a="http://schemas.openxmlformats.org/drawingml/2006/main">
            <a:off x="819150" y="2800350"/>
            <a:ext cx="104203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i="0">
                <a:solidFill>
                  <a:srgbClr val="0E3832"/>
                </a:solidFill>
              </a:defRPr>
            </a:pPr>
            <a:r>
              <a:rPr sz="2100" b="0" i="0">
                <a:solidFill>
                  <a:srgbClr val="0E3832"/>
                </a:solidFill>
              </a:rPr>
              <a:t>Body, mind, and destination experiences give Thailand a cultural advantage in post-AGI wellness.</a:t>
            </a:r>
          </a:p>
        </p:txBody>
      </p:sp>
      <p:sp>
        <p:nvSpPr>
          <p:cNvPr id="5" name="soul-body-head">
            <a:extLst xmlns:a="http://schemas.openxmlformats.org/drawingml/2006/main">
              <a:ext uri="{FF2B5EF4-FFF2-40B4-BE49-F238E27FC236}">
                <a16:creationId xmlns:a16="http://schemas.microsoft.com/office/drawing/2014/main" id="{135538A5-0551-4DE2-B6FC-B70DDB8718A2}"/>
              </a:ext>
            </a:extLst>
          </p:cNvPr>
          <p:cNvSpPr>
            <a:spLocks xmlns:a="http://schemas.openxmlformats.org/drawingml/2006/main" noGrp="1"/>
          </p:cNvSpPr>
          <p:nvPr/>
        </p:nvSpPr>
        <p:spPr>
          <a:xfrm xmlns:a="http://schemas.openxmlformats.org/drawingml/2006/main">
            <a:off x="819150" y="5467350"/>
            <a:ext cx="525780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150" b="1" i="0">
                <a:solidFill>
                  <a:srgbClr val="F06C3E"/>
                </a:solidFill>
              </a:defRPr>
            </a:pPr>
            <a:r>
              <a:rPr sz="3150" b="1" i="0">
                <a:solidFill>
                  <a:srgbClr val="F06C3E"/>
                </a:solidFill>
              </a:rPr>
              <a:t>BODY</a:t>
            </a:r>
          </a:p>
        </p:txBody>
      </p:sp>
      <p:sp>
        <p:nvSpPr>
          <p:cNvPr id="6" name="soul-body-copy">
            <a:extLst xmlns:a="http://schemas.openxmlformats.org/drawingml/2006/main">
              <a:ext uri="{FF2B5EF4-FFF2-40B4-BE49-F238E27FC236}">
                <a16:creationId xmlns:a16="http://schemas.microsoft.com/office/drawing/2014/main" id="{DF1D613D-B594-42D0-8847-F02E11B17D69}"/>
              </a:ext>
            </a:extLst>
          </p:cNvPr>
          <p:cNvSpPr>
            <a:spLocks xmlns:a="http://schemas.openxmlformats.org/drawingml/2006/main" noGrp="1"/>
          </p:cNvSpPr>
          <p:nvPr/>
        </p:nvSpPr>
        <p:spPr>
          <a:xfrm xmlns:a="http://schemas.openxmlformats.org/drawingml/2006/main">
            <a:off x="819150" y="6115050"/>
            <a:ext cx="5257800" cy="1028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i="0">
                <a:solidFill>
                  <a:srgbClr val="12211D"/>
                </a:solidFill>
              </a:defRPr>
            </a:pPr>
            <a:r>
              <a:rPr sz="2250" b="1" i="0">
                <a:solidFill>
                  <a:srgbClr val="12211D"/>
                </a:solidFill>
              </a:rPr>
              <a:t>Thai massage</a:t>
            </a:r>
          </a:p>
          <a:p xmlns:a="http://schemas.openxmlformats.org/drawingml/2006/main">
            <a:pPr>
              <a:defRPr sz="2250" b="1" i="0">
                <a:solidFill>
                  <a:srgbClr val="12211D"/>
                </a:solidFill>
              </a:defRPr>
            </a:pPr>
            <a:r>
              <a:rPr sz="2250" b="1" i="0">
                <a:solidFill>
                  <a:srgbClr val="12211D"/>
                </a:solidFill>
              </a:rPr>
              <a:t>Acupuncture</a:t>
            </a:r>
          </a:p>
          <a:p xmlns:a="http://schemas.openxmlformats.org/drawingml/2006/main">
            <a:pPr>
              <a:defRPr sz="2250" b="1" i="0">
                <a:solidFill>
                  <a:srgbClr val="12211D"/>
                </a:solidFill>
              </a:defRPr>
            </a:pPr>
            <a:r>
              <a:rPr sz="2250" b="1" i="0">
                <a:solidFill>
                  <a:srgbClr val="12211D"/>
                </a:solidFill>
              </a:rPr>
              <a:t>Community fitness</a:t>
            </a:r>
          </a:p>
        </p:txBody>
      </p:sp>
      <p:sp>
        <p:nvSpPr>
          <p:cNvPr id="7" name="soul-mind-head">
            <a:extLst xmlns:a="http://schemas.openxmlformats.org/drawingml/2006/main">
              <a:ext uri="{FF2B5EF4-FFF2-40B4-BE49-F238E27FC236}">
                <a16:creationId xmlns:a16="http://schemas.microsoft.com/office/drawing/2014/main" id="{F496EF0D-B8C6-47B0-879E-34A6A47AD0A6}"/>
              </a:ext>
            </a:extLst>
          </p:cNvPr>
          <p:cNvSpPr>
            <a:spLocks xmlns:a="http://schemas.openxmlformats.org/drawingml/2006/main" noGrp="1"/>
          </p:cNvSpPr>
          <p:nvPr/>
        </p:nvSpPr>
        <p:spPr>
          <a:xfrm xmlns:a="http://schemas.openxmlformats.org/drawingml/2006/main">
            <a:off x="6515100" y="5467350"/>
            <a:ext cx="525780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150" b="1" i="0">
                <a:solidFill>
                  <a:srgbClr val="0F8C68"/>
                </a:solidFill>
              </a:defRPr>
            </a:pPr>
            <a:r>
              <a:rPr sz="3150" b="1" i="0">
                <a:solidFill>
                  <a:srgbClr val="0F8C68"/>
                </a:solidFill>
              </a:rPr>
              <a:t>MIND</a:t>
            </a:r>
          </a:p>
        </p:txBody>
      </p:sp>
      <p:sp>
        <p:nvSpPr>
          <p:cNvPr id="8" name="soul-mind-copy">
            <a:extLst xmlns:a="http://schemas.openxmlformats.org/drawingml/2006/main">
              <a:ext uri="{FF2B5EF4-FFF2-40B4-BE49-F238E27FC236}">
                <a16:creationId xmlns:a16="http://schemas.microsoft.com/office/drawing/2014/main" id="{EF3FBEF4-A467-432D-B14A-C574BC2BC67A}"/>
              </a:ext>
            </a:extLst>
          </p:cNvPr>
          <p:cNvSpPr>
            <a:spLocks xmlns:a="http://schemas.openxmlformats.org/drawingml/2006/main" noGrp="1"/>
          </p:cNvSpPr>
          <p:nvPr/>
        </p:nvSpPr>
        <p:spPr>
          <a:xfrm xmlns:a="http://schemas.openxmlformats.org/drawingml/2006/main">
            <a:off x="6515100" y="6115050"/>
            <a:ext cx="5257800" cy="1028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i="0">
                <a:solidFill>
                  <a:srgbClr val="12211D"/>
                </a:solidFill>
              </a:defRPr>
            </a:pPr>
            <a:r>
              <a:rPr sz="2250" b="1" i="0">
                <a:solidFill>
                  <a:srgbClr val="12211D"/>
                </a:solidFill>
              </a:rPr>
              <a:t>Sound therapy</a:t>
            </a:r>
          </a:p>
          <a:p xmlns:a="http://schemas.openxmlformats.org/drawingml/2006/main">
            <a:pPr>
              <a:defRPr sz="2250" b="1" i="0">
                <a:solidFill>
                  <a:srgbClr val="12211D"/>
                </a:solidFill>
              </a:defRPr>
            </a:pPr>
            <a:r>
              <a:rPr sz="2250" b="1" i="0">
                <a:solidFill>
                  <a:srgbClr val="12211D"/>
                </a:solidFill>
              </a:rPr>
              <a:t>Guided meditation</a:t>
            </a:r>
          </a:p>
          <a:p xmlns:a="http://schemas.openxmlformats.org/drawingml/2006/main">
            <a:pPr>
              <a:defRPr sz="2250" b="1" i="0">
                <a:solidFill>
                  <a:srgbClr val="12211D"/>
                </a:solidFill>
              </a:defRPr>
            </a:pPr>
            <a:r>
              <a:rPr sz="2250" b="1" i="0">
                <a:solidFill>
                  <a:srgbClr val="12211D"/>
                </a:solidFill>
              </a:rPr>
              <a:t>Dharma listening</a:t>
            </a:r>
          </a:p>
        </p:txBody>
      </p:sp>
      <p:sp>
        <p:nvSpPr>
          <p:cNvPr id="9" name="soul-place-head">
            <a:extLst xmlns:a="http://schemas.openxmlformats.org/drawingml/2006/main">
              <a:ext uri="{FF2B5EF4-FFF2-40B4-BE49-F238E27FC236}">
                <a16:creationId xmlns:a16="http://schemas.microsoft.com/office/drawing/2014/main" id="{2546B1F7-3CDC-4418-838A-7FAA436A54AF}"/>
              </a:ext>
            </a:extLst>
          </p:cNvPr>
          <p:cNvSpPr>
            <a:spLocks xmlns:a="http://schemas.openxmlformats.org/drawingml/2006/main" noGrp="1"/>
          </p:cNvSpPr>
          <p:nvPr/>
        </p:nvSpPr>
        <p:spPr>
          <a:xfrm xmlns:a="http://schemas.openxmlformats.org/drawingml/2006/main">
            <a:off x="12211050" y="5467350"/>
            <a:ext cx="525780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150" b="1" i="0">
                <a:solidFill>
                  <a:srgbClr val="4CA7C5"/>
                </a:solidFill>
              </a:defRPr>
            </a:pPr>
            <a:r>
              <a:rPr sz="3150" b="1" i="0">
                <a:solidFill>
                  <a:srgbClr val="4CA7C5"/>
                </a:solidFill>
              </a:rPr>
              <a:t>PLACE</a:t>
            </a:r>
          </a:p>
        </p:txBody>
      </p:sp>
      <p:sp>
        <p:nvSpPr>
          <p:cNvPr id="10" name="soul-place-copy">
            <a:extLst xmlns:a="http://schemas.openxmlformats.org/drawingml/2006/main">
              <a:ext uri="{FF2B5EF4-FFF2-40B4-BE49-F238E27FC236}">
                <a16:creationId xmlns:a16="http://schemas.microsoft.com/office/drawing/2014/main" id="{F84EBE37-88C3-48DB-9BA7-9334EE0B487F}"/>
              </a:ext>
            </a:extLst>
          </p:cNvPr>
          <p:cNvSpPr>
            <a:spLocks xmlns:a="http://schemas.openxmlformats.org/drawingml/2006/main" noGrp="1"/>
          </p:cNvSpPr>
          <p:nvPr/>
        </p:nvSpPr>
        <p:spPr>
          <a:xfrm xmlns:a="http://schemas.openxmlformats.org/drawingml/2006/main">
            <a:off x="12211050" y="6115050"/>
            <a:ext cx="5257800" cy="1028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i="0">
                <a:solidFill>
                  <a:srgbClr val="12211D"/>
                </a:solidFill>
              </a:defRPr>
            </a:pPr>
            <a:r>
              <a:rPr sz="2250" b="1" i="0">
                <a:solidFill>
                  <a:srgbClr val="12211D"/>
                </a:solidFill>
              </a:rPr>
              <a:t>Healing tourism</a:t>
            </a:r>
          </a:p>
          <a:p xmlns:a="http://schemas.openxmlformats.org/drawingml/2006/main">
            <a:pPr>
              <a:defRPr sz="2250" b="1" i="0">
                <a:solidFill>
                  <a:srgbClr val="12211D"/>
                </a:solidFill>
              </a:defRPr>
            </a:pPr>
            <a:r>
              <a:rPr sz="2250" b="1" i="0">
                <a:solidFill>
                  <a:srgbClr val="12211D"/>
                </a:solidFill>
              </a:rPr>
              <a:t>Retreat partners</a:t>
            </a:r>
          </a:p>
          <a:p xmlns:a="http://schemas.openxmlformats.org/drawingml/2006/main">
            <a:pPr>
              <a:defRPr sz="2250" b="1" i="0">
                <a:solidFill>
                  <a:srgbClr val="12211D"/>
                </a:solidFill>
              </a:defRPr>
            </a:pPr>
            <a:r>
              <a:rPr sz="2250" b="1" i="0">
                <a:solidFill>
                  <a:srgbClr val="12211D"/>
                </a:solidFill>
              </a:rPr>
              <a:t>Local practitioners</a:t>
            </a:r>
          </a:p>
        </p:txBody>
      </p:sp>
      <p:sp>
        <p:nvSpPr>
          <p:cNvPr id="11" name="footer-label-8">
            <a:extLst xmlns:a="http://schemas.openxmlformats.org/drawingml/2006/main">
              <a:ext uri="{FF2B5EF4-FFF2-40B4-BE49-F238E27FC236}">
                <a16:creationId xmlns:a16="http://schemas.microsoft.com/office/drawing/2014/main" id="{24B8D53A-B24A-4F0D-A270-C2DD07A7E5A1}"/>
              </a:ext>
            </a:extLst>
          </p:cNvPr>
          <p:cNvSpPr>
            <a:spLocks xmlns:a="http://schemas.openxmlformats.org/drawingml/2006/main" noGrp="1"/>
          </p:cNvSpPr>
          <p:nvPr/>
        </p:nvSpPr>
        <p:spPr>
          <a:xfrm xmlns:a="http://schemas.openxmlformats.org/drawingml/2006/main">
            <a:off x="819150" y="9505950"/>
            <a:ext cx="23050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i="0">
                <a:solidFill>
                  <a:srgbClr val="6F7C73"/>
                </a:solidFill>
              </a:defRPr>
            </a:pPr>
            <a:r>
              <a:rPr sz="1350" b="0" i="0">
                <a:solidFill>
                  <a:srgbClr val="6F7C73"/>
                </a:solidFill>
              </a:rPr>
              <a:t>OmniWell Thai | Hackathon Pitch</a:t>
            </a:r>
          </a:p>
        </p:txBody>
      </p:sp>
      <p:sp>
        <p:nvSpPr>
          <p:cNvPr id="12" name="footer-number-8">
            <a:extLst xmlns:a="http://schemas.openxmlformats.org/drawingml/2006/main">
              <a:ext uri="{FF2B5EF4-FFF2-40B4-BE49-F238E27FC236}">
                <a16:creationId xmlns:a16="http://schemas.microsoft.com/office/drawing/2014/main" id="{AE42EA20-57C8-41E0-BC14-D0F40692E8A3}"/>
              </a:ext>
            </a:extLst>
          </p:cNvPr>
          <p:cNvSpPr>
            <a:spLocks xmlns:a="http://schemas.openxmlformats.org/drawingml/2006/main" noGrp="1"/>
          </p:cNvSpPr>
          <p:nvPr/>
        </p:nvSpPr>
        <p:spPr>
          <a:xfrm xmlns:a="http://schemas.openxmlformats.org/drawingml/2006/main">
            <a:off x="16935450" y="9505950"/>
            <a:ext cx="5334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i="0">
                <a:solidFill>
                  <a:srgbClr val="6F7C73"/>
                </a:solidFill>
              </a:defRPr>
            </a:pPr>
            <a:r>
              <a:rPr sz="1350" b="1" i="0">
                <a:solidFill>
                  <a:srgbClr val="6F7C73"/>
                </a:solidFill>
              </a:rPr>
              <a:t>08</a:t>
            </a:r>
          </a:p>
        </p:txBody>
      </p:sp>
    </p:spTree>
    <p:extLst>
      <p:ext uri="{BB962C8B-B14F-4D97-AF65-F5344CB8AC3E}">
        <p14:creationId xmlns:p14="http://schemas.microsoft.com/office/powerpoint/2010/main" val="133389968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E289596C-422C-4A0D-8967-80BDE076DA5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8F1E1"/>
          </a:solidFill>
        </p:spPr>
      </p:sp>
      <p:sp>
        <p:nvSpPr>
          <p:cNvPr id="2" name="eyebrow-9">
            <a:extLst xmlns:a="http://schemas.openxmlformats.org/drawingml/2006/main">
              <a:ext uri="{FF2B5EF4-FFF2-40B4-BE49-F238E27FC236}">
                <a16:creationId xmlns:a16="http://schemas.microsoft.com/office/drawing/2014/main" id="{3A068AE9-5B48-4E9D-B91F-A3216494426F}"/>
              </a:ext>
            </a:extLst>
          </p:cNvPr>
          <p:cNvSpPr>
            <a:spLocks xmlns:a="http://schemas.openxmlformats.org/drawingml/2006/main" noGrp="1"/>
          </p:cNvSpPr>
          <p:nvPr/>
        </p:nvSpPr>
        <p:spPr>
          <a:xfrm xmlns:a="http://schemas.openxmlformats.org/drawingml/2006/main">
            <a:off x="819150" y="590550"/>
            <a:ext cx="38671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0F8C68"/>
                </a:solidFill>
              </a:defRPr>
            </a:pPr>
            <a:r>
              <a:rPr sz="1500" b="1" i="0">
                <a:solidFill>
                  <a:srgbClr val="0F8C68"/>
                </a:solidFill>
              </a:rPr>
              <a:t>IMPACT | SCALE WITHOUT LOSING PERSONALITY</a:t>
            </a:r>
          </a:p>
        </p:txBody>
      </p:sp>
      <p:sp>
        <p:nvSpPr>
          <p:cNvPr id="3" name="slide-title-9">
            <a:extLst xmlns:a="http://schemas.openxmlformats.org/drawingml/2006/main">
              <a:ext uri="{FF2B5EF4-FFF2-40B4-BE49-F238E27FC236}">
                <a16:creationId xmlns:a16="http://schemas.microsoft.com/office/drawing/2014/main" id="{4AFBE8C0-8D3D-491B-8390-4EEFE3690089}"/>
              </a:ext>
            </a:extLst>
          </p:cNvPr>
          <p:cNvSpPr>
            <a:spLocks xmlns:a="http://schemas.openxmlformats.org/drawingml/2006/main" noGrp="1"/>
          </p:cNvSpPr>
          <p:nvPr/>
        </p:nvSpPr>
        <p:spPr>
          <a:xfrm xmlns:a="http://schemas.openxmlformats.org/drawingml/2006/main">
            <a:off x="819150" y="1219200"/>
            <a:ext cx="12477750" cy="1428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i="0">
                <a:solidFill>
                  <a:srgbClr val="12211D"/>
                </a:solidFill>
              </a:defRPr>
            </a:pPr>
            <a:r>
              <a:rPr sz="4650" b="1" i="0">
                <a:solidFill>
                  <a:srgbClr val="12211D"/>
                </a:solidFill>
              </a:rPr>
              <a:t>The same loop can serve one meal, one family, one clinic, and 70 million Thais.</a:t>
            </a:r>
          </a:p>
        </p:txBody>
      </p:sp>
      <p:sp>
        <p:nvSpPr>
          <p:cNvPr id="4" name="slide-subtitle-9">
            <a:extLst xmlns:a="http://schemas.openxmlformats.org/drawingml/2006/main">
              <a:ext uri="{FF2B5EF4-FFF2-40B4-BE49-F238E27FC236}">
                <a16:creationId xmlns:a16="http://schemas.microsoft.com/office/drawing/2014/main" id="{CEC4EA56-487D-4F5A-A99E-856F32E3CB99}"/>
              </a:ext>
            </a:extLst>
          </p:cNvPr>
          <p:cNvSpPr>
            <a:spLocks xmlns:a="http://schemas.openxmlformats.org/drawingml/2006/main" noGrp="1"/>
          </p:cNvSpPr>
          <p:nvPr/>
        </p:nvSpPr>
        <p:spPr>
          <a:xfrm xmlns:a="http://schemas.openxmlformats.org/drawingml/2006/main">
            <a:off x="819150" y="2800350"/>
            <a:ext cx="74485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i="0">
                <a:solidFill>
                  <a:srgbClr val="0E3832"/>
                </a:solidFill>
              </a:defRPr>
            </a:pPr>
            <a:r>
              <a:rPr sz="2100" b="0" i="0">
                <a:solidFill>
                  <a:srgbClr val="0E3832"/>
                </a:solidFill>
              </a:rPr>
              <a:t>We scale by keeping the recommendation small and the context rich.</a:t>
            </a:r>
          </a:p>
        </p:txBody>
      </p:sp>
      <p:sp>
        <p:nvSpPr>
          <p:cNvPr id="5" name="impact-70m">
            <a:extLst xmlns:a="http://schemas.openxmlformats.org/drawingml/2006/main">
              <a:ext uri="{FF2B5EF4-FFF2-40B4-BE49-F238E27FC236}">
                <a16:creationId xmlns:a16="http://schemas.microsoft.com/office/drawing/2014/main" id="{91058B43-DC49-4EA0-92DA-720D33532BAC}"/>
              </a:ext>
            </a:extLst>
          </p:cNvPr>
          <p:cNvSpPr>
            <a:spLocks xmlns:a="http://schemas.openxmlformats.org/drawingml/2006/main" noGrp="1"/>
          </p:cNvSpPr>
          <p:nvPr/>
        </p:nvSpPr>
        <p:spPr>
          <a:xfrm xmlns:a="http://schemas.openxmlformats.org/drawingml/2006/main">
            <a:off x="819150" y="5181600"/>
            <a:ext cx="6515100" cy="1466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600" b="1" i="0">
                <a:solidFill>
                  <a:srgbClr val="0F8C68"/>
                </a:solidFill>
              </a:defRPr>
            </a:pPr>
            <a:r>
              <a:rPr sz="9600" b="1" i="0">
                <a:solidFill>
                  <a:srgbClr val="0F8C68"/>
                </a:solidFill>
              </a:rPr>
              <a:t>70M</a:t>
            </a:r>
          </a:p>
        </p:txBody>
      </p:sp>
      <p:sp>
        <p:nvSpPr>
          <p:cNvPr id="6" name="impact-caption">
            <a:extLst xmlns:a="http://schemas.openxmlformats.org/drawingml/2006/main">
              <a:ext uri="{FF2B5EF4-FFF2-40B4-BE49-F238E27FC236}">
                <a16:creationId xmlns:a16="http://schemas.microsoft.com/office/drawing/2014/main" id="{D4045E5A-1CDD-4F95-9FF0-B03D201094A4}"/>
              </a:ext>
            </a:extLst>
          </p:cNvPr>
          <p:cNvSpPr>
            <a:spLocks xmlns:a="http://schemas.openxmlformats.org/drawingml/2006/main" noGrp="1"/>
          </p:cNvSpPr>
          <p:nvPr/>
        </p:nvSpPr>
        <p:spPr>
          <a:xfrm xmlns:a="http://schemas.openxmlformats.org/drawingml/2006/main">
            <a:off x="819150" y="6762750"/>
            <a:ext cx="65151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i="0">
                <a:solidFill>
                  <a:srgbClr val="0E3832"/>
                </a:solidFill>
              </a:defRPr>
            </a:pPr>
            <a:r>
              <a:rPr sz="2325" b="1" i="0">
                <a:solidFill>
                  <a:srgbClr val="0E3832"/>
                </a:solidFill>
              </a:rPr>
              <a:t>Thai lives within reach</a:t>
            </a:r>
          </a:p>
        </p:txBody>
      </p:sp>
      <p:sp>
        <p:nvSpPr>
          <p:cNvPr id="7" name="impact-source">
            <a:extLst xmlns:a="http://schemas.openxmlformats.org/drawingml/2006/main">
              <a:ext uri="{FF2B5EF4-FFF2-40B4-BE49-F238E27FC236}">
                <a16:creationId xmlns:a16="http://schemas.microsoft.com/office/drawing/2014/main" id="{80C16C0C-3308-40FD-A2D9-E7DFDE2524F3}"/>
              </a:ext>
            </a:extLst>
          </p:cNvPr>
          <p:cNvSpPr>
            <a:spLocks xmlns:a="http://schemas.openxmlformats.org/drawingml/2006/main" noGrp="1"/>
          </p:cNvSpPr>
          <p:nvPr/>
        </p:nvSpPr>
        <p:spPr>
          <a:xfrm xmlns:a="http://schemas.openxmlformats.org/drawingml/2006/main">
            <a:off x="819150" y="7219950"/>
            <a:ext cx="6515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0" i="0">
                <a:solidFill>
                  <a:srgbClr val="6F7C73"/>
                </a:solidFill>
              </a:defRPr>
            </a:pPr>
            <a:r>
              <a:rPr sz="1275" b="0" i="0">
                <a:solidFill>
                  <a:srgbClr val="6F7C73"/>
                </a:solidFill>
              </a:rPr>
              <a:t>Prompt assumption for pitch sizing.</a:t>
            </a:r>
          </a:p>
        </p:txBody>
      </p:sp>
      <p:sp>
        <p:nvSpPr>
          <p:cNvPr id="8" name="impact-dot-a">
            <a:extLst xmlns:a="http://schemas.openxmlformats.org/drawingml/2006/main">
              <a:ext uri="{FF2B5EF4-FFF2-40B4-BE49-F238E27FC236}">
                <a16:creationId xmlns:a16="http://schemas.microsoft.com/office/drawing/2014/main" id="{96046561-1BA8-4114-94E9-EA7387CF834B}"/>
              </a:ext>
            </a:extLst>
          </p:cNvPr>
          <p:cNvSpPr>
            <a:spLocks xmlns:a="http://schemas.openxmlformats.org/drawingml/2006/main" noGrp="1"/>
          </p:cNvSpPr>
          <p:nvPr/>
        </p:nvSpPr>
        <p:spPr>
          <a:xfrm xmlns:a="http://schemas.openxmlformats.org/drawingml/2006/main">
            <a:off x="8077200" y="5562600"/>
            <a:ext cx="228600" cy="228600"/>
          </a:xfrm>
          <a:prstGeom xmlns:a="http://schemas.openxmlformats.org/drawingml/2006/main" prst="ellipse">
            <a:avLst/>
          </a:prstGeom>
          <a:solidFill xmlns:a="http://schemas.openxmlformats.org/drawingml/2006/main">
            <a:srgbClr val="F06C3E"/>
          </a:solidFill>
        </p:spPr>
      </p:sp>
      <p:sp>
        <p:nvSpPr>
          <p:cNvPr id="9" name="impact-text-a">
            <a:extLst xmlns:a="http://schemas.openxmlformats.org/drawingml/2006/main">
              <a:ext uri="{FF2B5EF4-FFF2-40B4-BE49-F238E27FC236}">
                <a16:creationId xmlns:a16="http://schemas.microsoft.com/office/drawing/2014/main" id="{6BF5023A-82E1-46AA-ACF4-D0F7AD8ED6A1}"/>
              </a:ext>
            </a:extLst>
          </p:cNvPr>
          <p:cNvSpPr>
            <a:spLocks xmlns:a="http://schemas.openxmlformats.org/drawingml/2006/main" noGrp="1"/>
          </p:cNvSpPr>
          <p:nvPr/>
        </p:nvSpPr>
        <p:spPr>
          <a:xfrm xmlns:a="http://schemas.openxmlformats.org/drawingml/2006/main">
            <a:off x="8496300" y="5543550"/>
            <a:ext cx="89725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i="0">
                <a:solidFill>
                  <a:srgbClr val="12211D"/>
                </a:solidFill>
              </a:defRPr>
            </a:pPr>
            <a:r>
              <a:rPr sz="2400" b="1" i="0">
                <a:solidFill>
                  <a:srgbClr val="12211D"/>
                </a:solidFill>
              </a:rPr>
              <a:t>Meal feedback improves personal recommendations.</a:t>
            </a:r>
          </a:p>
        </p:txBody>
      </p:sp>
      <p:sp>
        <p:nvSpPr>
          <p:cNvPr id="10" name="impact-dot-b">
            <a:extLst xmlns:a="http://schemas.openxmlformats.org/drawingml/2006/main">
              <a:ext uri="{FF2B5EF4-FFF2-40B4-BE49-F238E27FC236}">
                <a16:creationId xmlns:a16="http://schemas.microsoft.com/office/drawing/2014/main" id="{01A4977A-84FF-4E15-985A-5E50FB40E987}"/>
              </a:ext>
            </a:extLst>
          </p:cNvPr>
          <p:cNvSpPr>
            <a:spLocks xmlns:a="http://schemas.openxmlformats.org/drawingml/2006/main" noGrp="1"/>
          </p:cNvSpPr>
          <p:nvPr/>
        </p:nvSpPr>
        <p:spPr>
          <a:xfrm xmlns:a="http://schemas.openxmlformats.org/drawingml/2006/main">
            <a:off x="8077200" y="6134100"/>
            <a:ext cx="228600" cy="228600"/>
          </a:xfrm>
          <a:prstGeom xmlns:a="http://schemas.openxmlformats.org/drawingml/2006/main" prst="ellipse">
            <a:avLst/>
          </a:prstGeom>
          <a:solidFill xmlns:a="http://schemas.openxmlformats.org/drawingml/2006/main">
            <a:srgbClr val="0F8C68"/>
          </a:solidFill>
        </p:spPr>
      </p:sp>
      <p:sp>
        <p:nvSpPr>
          <p:cNvPr id="11" name="impact-text-b">
            <a:extLst xmlns:a="http://schemas.openxmlformats.org/drawingml/2006/main">
              <a:ext uri="{FF2B5EF4-FFF2-40B4-BE49-F238E27FC236}">
                <a16:creationId xmlns:a16="http://schemas.microsoft.com/office/drawing/2014/main" id="{89C104AC-C247-4128-A865-3C0F0761F6B9}"/>
              </a:ext>
            </a:extLst>
          </p:cNvPr>
          <p:cNvSpPr>
            <a:spLocks xmlns:a="http://schemas.openxmlformats.org/drawingml/2006/main" noGrp="1"/>
          </p:cNvSpPr>
          <p:nvPr/>
        </p:nvSpPr>
        <p:spPr>
          <a:xfrm xmlns:a="http://schemas.openxmlformats.org/drawingml/2006/main">
            <a:off x="8496300" y="6115050"/>
            <a:ext cx="89725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i="0">
                <a:solidFill>
                  <a:srgbClr val="12211D"/>
                </a:solidFill>
              </a:defRPr>
            </a:pPr>
            <a:r>
              <a:rPr sz="2400" b="1" i="0">
                <a:solidFill>
                  <a:srgbClr val="12211D"/>
                </a:solidFill>
              </a:rPr>
              <a:t>Aggregated insights support families, coaches, and care teams.</a:t>
            </a:r>
          </a:p>
        </p:txBody>
      </p:sp>
      <p:sp>
        <p:nvSpPr>
          <p:cNvPr id="12" name="impact-dot-c">
            <a:extLst xmlns:a="http://schemas.openxmlformats.org/drawingml/2006/main">
              <a:ext uri="{FF2B5EF4-FFF2-40B4-BE49-F238E27FC236}">
                <a16:creationId xmlns:a16="http://schemas.microsoft.com/office/drawing/2014/main" id="{729B57FB-4BBE-41D5-BC5C-605EC0618673}"/>
              </a:ext>
            </a:extLst>
          </p:cNvPr>
          <p:cNvSpPr>
            <a:spLocks xmlns:a="http://schemas.openxmlformats.org/drawingml/2006/main" noGrp="1"/>
          </p:cNvSpPr>
          <p:nvPr/>
        </p:nvSpPr>
        <p:spPr>
          <a:xfrm xmlns:a="http://schemas.openxmlformats.org/drawingml/2006/main">
            <a:off x="8077200" y="6705600"/>
            <a:ext cx="228600" cy="228600"/>
          </a:xfrm>
          <a:prstGeom xmlns:a="http://schemas.openxmlformats.org/drawingml/2006/main" prst="ellipse">
            <a:avLst/>
          </a:prstGeom>
          <a:solidFill xmlns:a="http://schemas.openxmlformats.org/drawingml/2006/main">
            <a:srgbClr val="4CA7C5"/>
          </a:solidFill>
        </p:spPr>
      </p:sp>
      <p:sp>
        <p:nvSpPr>
          <p:cNvPr id="13" name="impact-text-c">
            <a:extLst xmlns:a="http://schemas.openxmlformats.org/drawingml/2006/main">
              <a:ext uri="{FF2B5EF4-FFF2-40B4-BE49-F238E27FC236}">
                <a16:creationId xmlns:a16="http://schemas.microsoft.com/office/drawing/2014/main" id="{DFA450D8-53FC-437A-BB3B-5CB64AAF2493}"/>
              </a:ext>
            </a:extLst>
          </p:cNvPr>
          <p:cNvSpPr>
            <a:spLocks xmlns:a="http://schemas.openxmlformats.org/drawingml/2006/main" noGrp="1"/>
          </p:cNvSpPr>
          <p:nvPr/>
        </p:nvSpPr>
        <p:spPr>
          <a:xfrm xmlns:a="http://schemas.openxmlformats.org/drawingml/2006/main">
            <a:off x="8496300" y="6686550"/>
            <a:ext cx="897255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i="0">
                <a:solidFill>
                  <a:srgbClr val="12211D"/>
                </a:solidFill>
              </a:defRPr>
            </a:pPr>
            <a:r>
              <a:rPr sz="2400" b="1" i="0">
                <a:solidFill>
                  <a:srgbClr val="12211D"/>
                </a:solidFill>
              </a:rPr>
              <a:t>Healing partners create a nationwide wellness network.</a:t>
            </a:r>
          </a:p>
        </p:txBody>
      </p:sp>
      <p:sp>
        <p:nvSpPr>
          <p:cNvPr id="14" name="footer-label-9">
            <a:extLst xmlns:a="http://schemas.openxmlformats.org/drawingml/2006/main">
              <a:ext uri="{FF2B5EF4-FFF2-40B4-BE49-F238E27FC236}">
                <a16:creationId xmlns:a16="http://schemas.microsoft.com/office/drawing/2014/main" id="{EC1EB48D-3B65-4BF2-85B7-06DDB20CEB1C}"/>
              </a:ext>
            </a:extLst>
          </p:cNvPr>
          <p:cNvSpPr>
            <a:spLocks xmlns:a="http://schemas.openxmlformats.org/drawingml/2006/main" noGrp="1"/>
          </p:cNvSpPr>
          <p:nvPr/>
        </p:nvSpPr>
        <p:spPr>
          <a:xfrm xmlns:a="http://schemas.openxmlformats.org/drawingml/2006/main">
            <a:off x="819150" y="9505950"/>
            <a:ext cx="23050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i="0">
                <a:solidFill>
                  <a:srgbClr val="6F7C73"/>
                </a:solidFill>
              </a:defRPr>
            </a:pPr>
            <a:r>
              <a:rPr sz="1350" b="0" i="0">
                <a:solidFill>
                  <a:srgbClr val="6F7C73"/>
                </a:solidFill>
              </a:rPr>
              <a:t>OmniWell Thai | Hackathon Pitch</a:t>
            </a:r>
          </a:p>
        </p:txBody>
      </p:sp>
      <p:sp>
        <p:nvSpPr>
          <p:cNvPr id="15" name="footer-number-9">
            <a:extLst xmlns:a="http://schemas.openxmlformats.org/drawingml/2006/main">
              <a:ext uri="{FF2B5EF4-FFF2-40B4-BE49-F238E27FC236}">
                <a16:creationId xmlns:a16="http://schemas.microsoft.com/office/drawing/2014/main" id="{28A02D91-539E-48CF-83B6-3CA1CC8DA478}"/>
              </a:ext>
            </a:extLst>
          </p:cNvPr>
          <p:cNvSpPr>
            <a:spLocks xmlns:a="http://schemas.openxmlformats.org/drawingml/2006/main" noGrp="1"/>
          </p:cNvSpPr>
          <p:nvPr/>
        </p:nvSpPr>
        <p:spPr>
          <a:xfrm xmlns:a="http://schemas.openxmlformats.org/drawingml/2006/main">
            <a:off x="16935450" y="9505950"/>
            <a:ext cx="5334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i="0">
                <a:solidFill>
                  <a:srgbClr val="6F7C73"/>
                </a:solidFill>
              </a:defRPr>
            </a:pPr>
            <a:r>
              <a:rPr sz="1350" b="1" i="0">
                <a:solidFill>
                  <a:srgbClr val="6F7C73"/>
                </a:solidFill>
              </a:rPr>
              <a:t>09</a:t>
            </a:r>
          </a:p>
        </p:txBody>
      </p:sp>
    </p:spTree>
    <p:extLst>
      <p:ext uri="{BB962C8B-B14F-4D97-AF65-F5344CB8AC3E}">
        <p14:creationId xmlns:p14="http://schemas.microsoft.com/office/powerpoint/2010/main" val="8176601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811B7E87-FB6B-44A5-894E-9496B1DFBAC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8F1E1"/>
          </a:solidFill>
        </p:spPr>
      </p:sp>
      <p:sp>
        <p:nvSpPr>
          <p:cNvPr id="2" name="eyebrow-10">
            <a:extLst xmlns:a="http://schemas.openxmlformats.org/drawingml/2006/main">
              <a:ext uri="{FF2B5EF4-FFF2-40B4-BE49-F238E27FC236}">
                <a16:creationId xmlns:a16="http://schemas.microsoft.com/office/drawing/2014/main" id="{4AC733C1-5FB8-4339-A628-7C27D85F82CB}"/>
              </a:ext>
            </a:extLst>
          </p:cNvPr>
          <p:cNvSpPr>
            <a:spLocks xmlns:a="http://schemas.openxmlformats.org/drawingml/2006/main" noGrp="1"/>
          </p:cNvSpPr>
          <p:nvPr/>
        </p:nvSpPr>
        <p:spPr>
          <a:xfrm xmlns:a="http://schemas.openxmlformats.org/drawingml/2006/main">
            <a:off x="819150" y="590550"/>
            <a:ext cx="40005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0F8C68"/>
                </a:solidFill>
              </a:defRPr>
            </a:pPr>
            <a:r>
              <a:rPr sz="1500" b="1" i="0">
                <a:solidFill>
                  <a:srgbClr val="0F8C68"/>
                </a:solidFill>
              </a:rPr>
              <a:t>WHY NOW | POST-AGI MAKES THE LOOP POSSIBLE</a:t>
            </a:r>
          </a:p>
        </p:txBody>
      </p:sp>
      <p:sp>
        <p:nvSpPr>
          <p:cNvPr id="3" name="slide-title-10">
            <a:extLst xmlns:a="http://schemas.openxmlformats.org/drawingml/2006/main">
              <a:ext uri="{FF2B5EF4-FFF2-40B4-BE49-F238E27FC236}">
                <a16:creationId xmlns:a16="http://schemas.microsoft.com/office/drawing/2014/main" id="{640EF726-A9B3-4DD3-BE04-66ED97B946A6}"/>
              </a:ext>
            </a:extLst>
          </p:cNvPr>
          <p:cNvSpPr>
            <a:spLocks xmlns:a="http://schemas.openxmlformats.org/drawingml/2006/main" noGrp="1"/>
          </p:cNvSpPr>
          <p:nvPr/>
        </p:nvSpPr>
        <p:spPr>
          <a:xfrm xmlns:a="http://schemas.openxmlformats.org/drawingml/2006/main">
            <a:off x="819150" y="1219200"/>
            <a:ext cx="11010900" cy="723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i="0">
                <a:solidFill>
                  <a:srgbClr val="12211D"/>
                </a:solidFill>
              </a:defRPr>
            </a:pPr>
            <a:r>
              <a:rPr sz="4650" b="1" i="0">
                <a:solidFill>
                  <a:srgbClr val="12211D"/>
                </a:solidFill>
              </a:rPr>
              <a:t>Three shifts are converging at the same time.</a:t>
            </a:r>
          </a:p>
        </p:txBody>
      </p:sp>
      <p:sp>
        <p:nvSpPr>
          <p:cNvPr id="4" name="slide-subtitle-10">
            <a:extLst xmlns:a="http://schemas.openxmlformats.org/drawingml/2006/main">
              <a:ext uri="{FF2B5EF4-FFF2-40B4-BE49-F238E27FC236}">
                <a16:creationId xmlns:a16="http://schemas.microsoft.com/office/drawing/2014/main" id="{6534A45E-27C9-4D03-9D70-1237313EC654}"/>
              </a:ext>
            </a:extLst>
          </p:cNvPr>
          <p:cNvSpPr>
            <a:spLocks xmlns:a="http://schemas.openxmlformats.org/drawingml/2006/main" noGrp="1"/>
          </p:cNvSpPr>
          <p:nvPr/>
        </p:nvSpPr>
        <p:spPr>
          <a:xfrm xmlns:a="http://schemas.openxmlformats.org/drawingml/2006/main">
            <a:off x="819150" y="2095500"/>
            <a:ext cx="1072515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i="0">
                <a:solidFill>
                  <a:srgbClr val="0E3832"/>
                </a:solidFill>
              </a:defRPr>
            </a:pPr>
            <a:r>
              <a:rPr sz="2100" b="0" i="0">
                <a:solidFill>
                  <a:srgbClr val="0E3832"/>
                </a:solidFill>
              </a:rPr>
              <a:t>AGI can reason across messy context; sensors can measure behavior; Thailand can own healing as a platform.</a:t>
            </a:r>
          </a:p>
        </p:txBody>
      </p:sp>
      <p:sp>
        <p:nvSpPr>
          <p:cNvPr id="5" name="why-num-1">
            <a:extLst xmlns:a="http://schemas.openxmlformats.org/drawingml/2006/main">
              <a:ext uri="{FF2B5EF4-FFF2-40B4-BE49-F238E27FC236}">
                <a16:creationId xmlns:a16="http://schemas.microsoft.com/office/drawing/2014/main" id="{0D180B59-AFC9-4D8A-8290-047063AF50B3}"/>
              </a:ext>
            </a:extLst>
          </p:cNvPr>
          <p:cNvSpPr>
            <a:spLocks xmlns:a="http://schemas.openxmlformats.org/drawingml/2006/main" noGrp="1"/>
          </p:cNvSpPr>
          <p:nvPr/>
        </p:nvSpPr>
        <p:spPr>
          <a:xfrm xmlns:a="http://schemas.openxmlformats.org/drawingml/2006/main">
            <a:off x="819150" y="4972050"/>
            <a:ext cx="8572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i="0">
                <a:solidFill>
                  <a:srgbClr val="F06C3E"/>
                </a:solidFill>
              </a:defRPr>
            </a:pPr>
            <a:r>
              <a:rPr sz="3300" b="1" i="0">
                <a:solidFill>
                  <a:srgbClr val="F06C3E"/>
                </a:solidFill>
              </a:rPr>
              <a:t>01</a:t>
            </a:r>
          </a:p>
        </p:txBody>
      </p:sp>
      <p:sp>
        <p:nvSpPr>
          <p:cNvPr id="6" name="why-text-1">
            <a:extLst xmlns:a="http://schemas.openxmlformats.org/drawingml/2006/main">
              <a:ext uri="{FF2B5EF4-FFF2-40B4-BE49-F238E27FC236}">
                <a16:creationId xmlns:a16="http://schemas.microsoft.com/office/drawing/2014/main" id="{6297592D-3631-497C-A659-8DCBD1129EAB}"/>
              </a:ext>
            </a:extLst>
          </p:cNvPr>
          <p:cNvSpPr>
            <a:spLocks xmlns:a="http://schemas.openxmlformats.org/drawingml/2006/main" noGrp="1"/>
          </p:cNvSpPr>
          <p:nvPr/>
        </p:nvSpPr>
        <p:spPr>
          <a:xfrm xmlns:a="http://schemas.openxmlformats.org/drawingml/2006/main">
            <a:off x="1962150" y="5010150"/>
            <a:ext cx="1550670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i="0">
                <a:solidFill>
                  <a:srgbClr val="12211D"/>
                </a:solidFill>
              </a:defRPr>
            </a:pPr>
            <a:r>
              <a:rPr sz="2625" b="1" i="0">
                <a:solidFill>
                  <a:srgbClr val="12211D"/>
                </a:solidFill>
              </a:rPr>
              <a:t>AGI shifts from advice generation to context orchestration.</a:t>
            </a:r>
          </a:p>
        </p:txBody>
      </p:sp>
      <p:sp>
        <p:nvSpPr>
          <p:cNvPr id="7" name="why-num-2">
            <a:extLst xmlns:a="http://schemas.openxmlformats.org/drawingml/2006/main">
              <a:ext uri="{FF2B5EF4-FFF2-40B4-BE49-F238E27FC236}">
                <a16:creationId xmlns:a16="http://schemas.microsoft.com/office/drawing/2014/main" id="{C0EEBCE2-72B8-4993-ADF1-FB4893175857}"/>
              </a:ext>
            </a:extLst>
          </p:cNvPr>
          <p:cNvSpPr>
            <a:spLocks xmlns:a="http://schemas.openxmlformats.org/drawingml/2006/main" noGrp="1"/>
          </p:cNvSpPr>
          <p:nvPr/>
        </p:nvSpPr>
        <p:spPr>
          <a:xfrm xmlns:a="http://schemas.openxmlformats.org/drawingml/2006/main">
            <a:off x="819150" y="5867400"/>
            <a:ext cx="8572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i="0">
                <a:solidFill>
                  <a:srgbClr val="0F8C68"/>
                </a:solidFill>
              </a:defRPr>
            </a:pPr>
            <a:r>
              <a:rPr sz="3300" b="1" i="0">
                <a:solidFill>
                  <a:srgbClr val="0F8C68"/>
                </a:solidFill>
              </a:rPr>
              <a:t>02</a:t>
            </a:r>
          </a:p>
        </p:txBody>
      </p:sp>
      <p:sp>
        <p:nvSpPr>
          <p:cNvPr id="8" name="why-text-2">
            <a:extLst xmlns:a="http://schemas.openxmlformats.org/drawingml/2006/main">
              <a:ext uri="{FF2B5EF4-FFF2-40B4-BE49-F238E27FC236}">
                <a16:creationId xmlns:a16="http://schemas.microsoft.com/office/drawing/2014/main" id="{1ACEC97D-00C8-41B8-B28A-062A414C0279}"/>
              </a:ext>
            </a:extLst>
          </p:cNvPr>
          <p:cNvSpPr>
            <a:spLocks xmlns:a="http://schemas.openxmlformats.org/drawingml/2006/main" noGrp="1"/>
          </p:cNvSpPr>
          <p:nvPr/>
        </p:nvSpPr>
        <p:spPr>
          <a:xfrm xmlns:a="http://schemas.openxmlformats.org/drawingml/2006/main">
            <a:off x="1962150" y="5905500"/>
            <a:ext cx="1550670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i="0">
                <a:solidFill>
                  <a:srgbClr val="12211D"/>
                </a:solidFill>
              </a:defRPr>
            </a:pPr>
            <a:r>
              <a:rPr sz="2625" b="1" i="0">
                <a:solidFill>
                  <a:srgbClr val="12211D"/>
                </a:solidFill>
              </a:rPr>
              <a:t>Low-friction sensors bring truth into daily eating.</a:t>
            </a:r>
          </a:p>
        </p:txBody>
      </p:sp>
      <p:sp>
        <p:nvSpPr>
          <p:cNvPr id="9" name="why-num-3">
            <a:extLst xmlns:a="http://schemas.openxmlformats.org/drawingml/2006/main">
              <a:ext uri="{FF2B5EF4-FFF2-40B4-BE49-F238E27FC236}">
                <a16:creationId xmlns:a16="http://schemas.microsoft.com/office/drawing/2014/main" id="{8931F7FD-86E0-4B21-A5B3-7B65174A5994}"/>
              </a:ext>
            </a:extLst>
          </p:cNvPr>
          <p:cNvSpPr>
            <a:spLocks xmlns:a="http://schemas.openxmlformats.org/drawingml/2006/main" noGrp="1"/>
          </p:cNvSpPr>
          <p:nvPr/>
        </p:nvSpPr>
        <p:spPr>
          <a:xfrm xmlns:a="http://schemas.openxmlformats.org/drawingml/2006/main">
            <a:off x="819150" y="6762750"/>
            <a:ext cx="8572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i="0">
                <a:solidFill>
                  <a:srgbClr val="4CA7C5"/>
                </a:solidFill>
              </a:defRPr>
            </a:pPr>
            <a:r>
              <a:rPr sz="3300" b="1" i="0">
                <a:solidFill>
                  <a:srgbClr val="4CA7C5"/>
                </a:solidFill>
              </a:rPr>
              <a:t>03</a:t>
            </a:r>
          </a:p>
        </p:txBody>
      </p:sp>
      <p:sp>
        <p:nvSpPr>
          <p:cNvPr id="10" name="why-text-3">
            <a:extLst xmlns:a="http://schemas.openxmlformats.org/drawingml/2006/main">
              <a:ext uri="{FF2B5EF4-FFF2-40B4-BE49-F238E27FC236}">
                <a16:creationId xmlns:a16="http://schemas.microsoft.com/office/drawing/2014/main" id="{4DC417D4-DEA8-4A9A-BCE2-A9B1E304DC16}"/>
              </a:ext>
            </a:extLst>
          </p:cNvPr>
          <p:cNvSpPr>
            <a:spLocks xmlns:a="http://schemas.openxmlformats.org/drawingml/2006/main" noGrp="1"/>
          </p:cNvSpPr>
          <p:nvPr/>
        </p:nvSpPr>
        <p:spPr>
          <a:xfrm xmlns:a="http://schemas.openxmlformats.org/drawingml/2006/main">
            <a:off x="1962150" y="6800850"/>
            <a:ext cx="1550670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i="0">
                <a:solidFill>
                  <a:srgbClr val="12211D"/>
                </a:solidFill>
              </a:defRPr>
            </a:pPr>
            <a:r>
              <a:rPr sz="2625" b="1" i="0">
                <a:solidFill>
                  <a:srgbClr val="12211D"/>
                </a:solidFill>
              </a:rPr>
              <a:t>Thai healing gives the product a local trust network from day one.</a:t>
            </a:r>
          </a:p>
        </p:txBody>
      </p:sp>
      <p:sp>
        <p:nvSpPr>
          <p:cNvPr id="11" name="footer-label-10">
            <a:extLst xmlns:a="http://schemas.openxmlformats.org/drawingml/2006/main">
              <a:ext uri="{FF2B5EF4-FFF2-40B4-BE49-F238E27FC236}">
                <a16:creationId xmlns:a16="http://schemas.microsoft.com/office/drawing/2014/main" id="{378034A8-D8B5-4598-8C37-65BD264AEA0C}"/>
              </a:ext>
            </a:extLst>
          </p:cNvPr>
          <p:cNvSpPr>
            <a:spLocks xmlns:a="http://schemas.openxmlformats.org/drawingml/2006/main" noGrp="1"/>
          </p:cNvSpPr>
          <p:nvPr/>
        </p:nvSpPr>
        <p:spPr>
          <a:xfrm xmlns:a="http://schemas.openxmlformats.org/drawingml/2006/main">
            <a:off x="819150" y="9505950"/>
            <a:ext cx="23050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i="0">
                <a:solidFill>
                  <a:srgbClr val="6F7C73"/>
                </a:solidFill>
              </a:defRPr>
            </a:pPr>
            <a:r>
              <a:rPr sz="1350" b="0" i="0">
                <a:solidFill>
                  <a:srgbClr val="6F7C73"/>
                </a:solidFill>
              </a:rPr>
              <a:t>OmniWell Thai | Hackathon Pitch</a:t>
            </a:r>
          </a:p>
        </p:txBody>
      </p:sp>
      <p:sp>
        <p:nvSpPr>
          <p:cNvPr id="12" name="footer-number-10">
            <a:extLst xmlns:a="http://schemas.openxmlformats.org/drawingml/2006/main">
              <a:ext uri="{FF2B5EF4-FFF2-40B4-BE49-F238E27FC236}">
                <a16:creationId xmlns:a16="http://schemas.microsoft.com/office/drawing/2014/main" id="{0AF45414-DC83-4451-8074-2DBDBB0616B3}"/>
              </a:ext>
            </a:extLst>
          </p:cNvPr>
          <p:cNvSpPr>
            <a:spLocks xmlns:a="http://schemas.openxmlformats.org/drawingml/2006/main" noGrp="1"/>
          </p:cNvSpPr>
          <p:nvPr/>
        </p:nvSpPr>
        <p:spPr>
          <a:xfrm xmlns:a="http://schemas.openxmlformats.org/drawingml/2006/main">
            <a:off x="16935450" y="9505950"/>
            <a:ext cx="5334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i="0">
                <a:solidFill>
                  <a:srgbClr val="6F7C73"/>
                </a:solidFill>
              </a:defRPr>
            </a:pPr>
            <a:r>
              <a:rPr sz="1350" b="1" i="0">
                <a:solidFill>
                  <a:srgbClr val="6F7C73"/>
                </a:solidFill>
              </a:rPr>
              <a:t>10</a:t>
            </a:r>
          </a:p>
        </p:txBody>
      </p:sp>
    </p:spTree>
    <p:extLst>
      <p:ext uri="{BB962C8B-B14F-4D97-AF65-F5344CB8AC3E}">
        <p14:creationId xmlns:p14="http://schemas.microsoft.com/office/powerpoint/2010/main" val="205570877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A17BF4CE-57A1-4A78-8727-D0F8EDE1715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8F1E1"/>
          </a:solidFill>
        </p:spPr>
      </p:sp>
      <p:sp>
        <p:nvSpPr>
          <p:cNvPr id="2" name="eyebrow-11">
            <a:extLst xmlns:a="http://schemas.openxmlformats.org/drawingml/2006/main">
              <a:ext uri="{FF2B5EF4-FFF2-40B4-BE49-F238E27FC236}">
                <a16:creationId xmlns:a16="http://schemas.microsoft.com/office/drawing/2014/main" id="{C12FFDCC-3CA6-46B8-8BEF-4BDB43AADAA0}"/>
              </a:ext>
            </a:extLst>
          </p:cNvPr>
          <p:cNvSpPr>
            <a:spLocks xmlns:a="http://schemas.openxmlformats.org/drawingml/2006/main" noGrp="1"/>
          </p:cNvSpPr>
          <p:nvPr/>
        </p:nvSpPr>
        <p:spPr>
          <a:xfrm xmlns:a="http://schemas.openxmlformats.org/drawingml/2006/main">
            <a:off x="819150" y="590550"/>
            <a:ext cx="226695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i="0">
                <a:solidFill>
                  <a:srgbClr val="0F8C68"/>
                </a:solidFill>
              </a:defRPr>
            </a:pPr>
            <a:r>
              <a:rPr sz="1500" b="1" i="0">
                <a:solidFill>
                  <a:srgbClr val="0F8C68"/>
                </a:solidFill>
              </a:rPr>
              <a:t>ASK | WHAT WE BUILD NEXT</a:t>
            </a:r>
          </a:p>
        </p:txBody>
      </p:sp>
      <p:sp>
        <p:nvSpPr>
          <p:cNvPr id="3" name="slide-title-11">
            <a:extLst xmlns:a="http://schemas.openxmlformats.org/drawingml/2006/main">
              <a:ext uri="{FF2B5EF4-FFF2-40B4-BE49-F238E27FC236}">
                <a16:creationId xmlns:a16="http://schemas.microsoft.com/office/drawing/2014/main" id="{6AC10284-EB14-462B-BEC3-2B965F36900F}"/>
              </a:ext>
            </a:extLst>
          </p:cNvPr>
          <p:cNvSpPr>
            <a:spLocks xmlns:a="http://schemas.openxmlformats.org/drawingml/2006/main" noGrp="1"/>
          </p:cNvSpPr>
          <p:nvPr/>
        </p:nvSpPr>
        <p:spPr>
          <a:xfrm xmlns:a="http://schemas.openxmlformats.org/drawingml/2006/main">
            <a:off x="819150" y="990600"/>
            <a:ext cx="9124950" cy="1428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650" b="1" i="0">
                <a:solidFill>
                  <a:srgbClr val="12211D"/>
                </a:solidFill>
              </a:defRPr>
            </a:pPr>
            <a:r>
              <a:rPr sz="4650" b="1" i="0">
                <a:solidFill>
                  <a:srgbClr val="12211D"/>
                </a:solidFill>
              </a:rPr>
              <a:t>In this hackathon, we prove the loop.</a:t>
            </a:r>
          </a:p>
        </p:txBody>
      </p:sp>
      <p:sp>
        <p:nvSpPr>
          <p:cNvPr id="4" name="slide-subtitle-11">
            <a:extLst xmlns:a="http://schemas.openxmlformats.org/drawingml/2006/main">
              <a:ext uri="{FF2B5EF4-FFF2-40B4-BE49-F238E27FC236}">
                <a16:creationId xmlns:a16="http://schemas.microsoft.com/office/drawing/2014/main" id="{F05BA2A8-FCF1-43D3-9B38-62F909195B16}"/>
              </a:ext>
            </a:extLst>
          </p:cNvPr>
          <p:cNvSpPr>
            <a:spLocks xmlns:a="http://schemas.openxmlformats.org/drawingml/2006/main" noGrp="1"/>
          </p:cNvSpPr>
          <p:nvPr/>
        </p:nvSpPr>
        <p:spPr>
          <a:xfrm xmlns:a="http://schemas.openxmlformats.org/drawingml/2006/main">
            <a:off x="819150" y="2571750"/>
            <a:ext cx="956310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i="0">
                <a:solidFill>
                  <a:srgbClr val="0E3832"/>
                </a:solidFill>
              </a:defRPr>
            </a:pPr>
            <a:r>
              <a:rPr sz="2100" b="0" i="0">
                <a:solidFill>
                  <a:srgbClr val="0E3832"/>
                </a:solidFill>
              </a:rPr>
              <a:t>Prototype the spoon signal, build the AGI recommendation graph, and demo a Thai-local meal-to-healing journey.</a:t>
            </a:r>
          </a:p>
        </p:txBody>
      </p:sp>
      <p:sp>
        <p:nvSpPr>
          <p:cNvPr id="5" name="ask-build">
            <a:extLst xmlns:a="http://schemas.openxmlformats.org/drawingml/2006/main">
              <a:ext uri="{FF2B5EF4-FFF2-40B4-BE49-F238E27FC236}">
                <a16:creationId xmlns:a16="http://schemas.microsoft.com/office/drawing/2014/main" id="{1296F07A-6AF0-4C87-BFE8-F35FA4660045}"/>
              </a:ext>
            </a:extLst>
          </p:cNvPr>
          <p:cNvSpPr>
            <a:spLocks xmlns:a="http://schemas.openxmlformats.org/drawingml/2006/main" noGrp="1"/>
          </p:cNvSpPr>
          <p:nvPr/>
        </p:nvSpPr>
        <p:spPr>
          <a:xfrm xmlns:a="http://schemas.openxmlformats.org/drawingml/2006/main">
            <a:off x="819150" y="5048250"/>
            <a:ext cx="7981950" cy="742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800" b="1" i="0">
                <a:solidFill>
                  <a:srgbClr val="F06C3E"/>
                </a:solidFill>
              </a:defRPr>
            </a:pPr>
            <a:r>
              <a:rPr sz="4800" b="1" i="0">
                <a:solidFill>
                  <a:srgbClr val="F06C3E"/>
                </a:solidFill>
              </a:rPr>
              <a:t>Build</a:t>
            </a:r>
          </a:p>
        </p:txBody>
      </p:sp>
      <p:sp>
        <p:nvSpPr>
          <p:cNvPr id="6" name="ask-measure">
            <a:extLst xmlns:a="http://schemas.openxmlformats.org/drawingml/2006/main">
              <a:ext uri="{FF2B5EF4-FFF2-40B4-BE49-F238E27FC236}">
                <a16:creationId xmlns:a16="http://schemas.microsoft.com/office/drawing/2014/main" id="{09E7B0E6-D08C-4713-A518-55889E8906B9}"/>
              </a:ext>
            </a:extLst>
          </p:cNvPr>
          <p:cNvSpPr>
            <a:spLocks xmlns:a="http://schemas.openxmlformats.org/drawingml/2006/main" noGrp="1"/>
          </p:cNvSpPr>
          <p:nvPr/>
        </p:nvSpPr>
        <p:spPr>
          <a:xfrm xmlns:a="http://schemas.openxmlformats.org/drawingml/2006/main">
            <a:off x="819150" y="5981700"/>
            <a:ext cx="7981950" cy="742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800" b="1" i="0">
                <a:solidFill>
                  <a:srgbClr val="0F8C68"/>
                </a:solidFill>
              </a:defRPr>
            </a:pPr>
            <a:r>
              <a:rPr sz="4800" b="1" i="0">
                <a:solidFill>
                  <a:srgbClr val="0F8C68"/>
                </a:solidFill>
              </a:rPr>
              <a:t>Measure</a:t>
            </a:r>
          </a:p>
        </p:txBody>
      </p:sp>
      <p:sp>
        <p:nvSpPr>
          <p:cNvPr id="7" name="ask-heal">
            <a:extLst xmlns:a="http://schemas.openxmlformats.org/drawingml/2006/main">
              <a:ext uri="{FF2B5EF4-FFF2-40B4-BE49-F238E27FC236}">
                <a16:creationId xmlns:a16="http://schemas.microsoft.com/office/drawing/2014/main" id="{5A7DE243-0ED7-40CF-884A-E865ED024D4F}"/>
              </a:ext>
            </a:extLst>
          </p:cNvPr>
          <p:cNvSpPr>
            <a:spLocks xmlns:a="http://schemas.openxmlformats.org/drawingml/2006/main" noGrp="1"/>
          </p:cNvSpPr>
          <p:nvPr/>
        </p:nvSpPr>
        <p:spPr>
          <a:xfrm xmlns:a="http://schemas.openxmlformats.org/drawingml/2006/main">
            <a:off x="819150" y="6934200"/>
            <a:ext cx="7981950" cy="742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800" b="1" i="0">
                <a:solidFill>
                  <a:srgbClr val="4CA7C5"/>
                </a:solidFill>
              </a:defRPr>
            </a:pPr>
            <a:r>
              <a:rPr sz="4800" b="1" i="0">
                <a:solidFill>
                  <a:srgbClr val="4CA7C5"/>
                </a:solidFill>
              </a:rPr>
              <a:t>Heal</a:t>
            </a:r>
          </a:p>
        </p:txBody>
      </p:sp>
      <p:sp>
        <p:nvSpPr>
          <p:cNvPr id="8" name="open-list-dot-0">
            <a:extLst xmlns:a="http://schemas.openxmlformats.org/drawingml/2006/main">
              <a:ext uri="{FF2B5EF4-FFF2-40B4-BE49-F238E27FC236}">
                <a16:creationId xmlns:a16="http://schemas.microsoft.com/office/drawing/2014/main" id="{7EB16011-8614-4B91-96AB-C8879AEA4B56}"/>
              </a:ext>
            </a:extLst>
          </p:cNvPr>
          <p:cNvSpPr>
            <a:spLocks xmlns:a="http://schemas.openxmlformats.org/drawingml/2006/main" noGrp="1"/>
          </p:cNvSpPr>
          <p:nvPr/>
        </p:nvSpPr>
        <p:spPr>
          <a:xfrm xmlns:a="http://schemas.openxmlformats.org/drawingml/2006/main">
            <a:off x="9486900" y="4686300"/>
            <a:ext cx="190500" cy="190500"/>
          </a:xfrm>
          <a:prstGeom xmlns:a="http://schemas.openxmlformats.org/drawingml/2006/main" prst="ellipse">
            <a:avLst/>
          </a:prstGeom>
          <a:solidFill xmlns:a="http://schemas.openxmlformats.org/drawingml/2006/main">
            <a:srgbClr val="F06C3E"/>
          </a:solidFill>
        </p:spPr>
      </p:sp>
      <p:sp>
        <p:nvSpPr>
          <p:cNvPr id="9" name="open-list-label-0">
            <a:extLst xmlns:a="http://schemas.openxmlformats.org/drawingml/2006/main">
              <a:ext uri="{FF2B5EF4-FFF2-40B4-BE49-F238E27FC236}">
                <a16:creationId xmlns:a16="http://schemas.microsoft.com/office/drawing/2014/main" id="{61AB35A9-A68E-4497-BD13-27F0C2CBD7F6}"/>
              </a:ext>
            </a:extLst>
          </p:cNvPr>
          <p:cNvSpPr>
            <a:spLocks xmlns:a="http://schemas.openxmlformats.org/drawingml/2006/main" noGrp="1"/>
          </p:cNvSpPr>
          <p:nvPr/>
        </p:nvSpPr>
        <p:spPr>
          <a:xfrm xmlns:a="http://schemas.openxmlformats.org/drawingml/2006/main">
            <a:off x="9848850" y="4667250"/>
            <a:ext cx="7620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i="0">
                <a:solidFill>
                  <a:srgbClr val="12211D"/>
                </a:solidFill>
              </a:defRPr>
            </a:pPr>
            <a:r>
              <a:rPr sz="2400" b="1" i="0">
                <a:solidFill>
                  <a:srgbClr val="12211D"/>
                </a:solidFill>
              </a:rPr>
              <a:t>Prototype</a:t>
            </a:r>
          </a:p>
        </p:txBody>
      </p:sp>
      <p:sp>
        <p:nvSpPr>
          <p:cNvPr id="10" name="open-list-copy-text-0">
            <a:extLst xmlns:a="http://schemas.openxmlformats.org/drawingml/2006/main">
              <a:ext uri="{FF2B5EF4-FFF2-40B4-BE49-F238E27FC236}">
                <a16:creationId xmlns:a16="http://schemas.microsoft.com/office/drawing/2014/main" id="{B8A84EB5-54B7-415B-B9FF-36C1251B51E0}"/>
              </a:ext>
            </a:extLst>
          </p:cNvPr>
          <p:cNvSpPr>
            <a:spLocks xmlns:a="http://schemas.openxmlformats.org/drawingml/2006/main" noGrp="1"/>
          </p:cNvSpPr>
          <p:nvPr/>
        </p:nvSpPr>
        <p:spPr>
          <a:xfrm xmlns:a="http://schemas.openxmlformats.org/drawingml/2006/main">
            <a:off x="9848850" y="5086350"/>
            <a:ext cx="5962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0E3832"/>
                </a:solidFill>
              </a:defRPr>
            </a:pPr>
            <a:r>
              <a:rPr sz="1800" b="0" i="0">
                <a:solidFill>
                  <a:srgbClr val="0E3832"/>
                </a:solidFill>
              </a:rPr>
              <a:t>Sensor simulation and haptic decision logic for the Smart Spoon.</a:t>
            </a:r>
          </a:p>
        </p:txBody>
      </p:sp>
      <p:sp>
        <p:nvSpPr>
          <p:cNvPr id="11" name="open-list-dot-1">
            <a:extLst xmlns:a="http://schemas.openxmlformats.org/drawingml/2006/main">
              <a:ext uri="{FF2B5EF4-FFF2-40B4-BE49-F238E27FC236}">
                <a16:creationId xmlns:a16="http://schemas.microsoft.com/office/drawing/2014/main" id="{FD908557-0181-4536-9CE9-11264DAA4794}"/>
              </a:ext>
            </a:extLst>
          </p:cNvPr>
          <p:cNvSpPr>
            <a:spLocks xmlns:a="http://schemas.openxmlformats.org/drawingml/2006/main" noGrp="1"/>
          </p:cNvSpPr>
          <p:nvPr/>
        </p:nvSpPr>
        <p:spPr>
          <a:xfrm xmlns:a="http://schemas.openxmlformats.org/drawingml/2006/main">
            <a:off x="9486900" y="5867400"/>
            <a:ext cx="190500" cy="190500"/>
          </a:xfrm>
          <a:prstGeom xmlns:a="http://schemas.openxmlformats.org/drawingml/2006/main" prst="ellipse">
            <a:avLst/>
          </a:prstGeom>
          <a:solidFill xmlns:a="http://schemas.openxmlformats.org/drawingml/2006/main">
            <a:srgbClr val="0F8C68"/>
          </a:solidFill>
        </p:spPr>
      </p:sp>
      <p:sp>
        <p:nvSpPr>
          <p:cNvPr id="12" name="open-list-label-1">
            <a:extLst xmlns:a="http://schemas.openxmlformats.org/drawingml/2006/main">
              <a:ext uri="{FF2B5EF4-FFF2-40B4-BE49-F238E27FC236}">
                <a16:creationId xmlns:a16="http://schemas.microsoft.com/office/drawing/2014/main" id="{8366F291-AB3C-4E16-BCF8-A4D767F5054D}"/>
              </a:ext>
            </a:extLst>
          </p:cNvPr>
          <p:cNvSpPr>
            <a:spLocks xmlns:a="http://schemas.openxmlformats.org/drawingml/2006/main" noGrp="1"/>
          </p:cNvSpPr>
          <p:nvPr/>
        </p:nvSpPr>
        <p:spPr>
          <a:xfrm xmlns:a="http://schemas.openxmlformats.org/drawingml/2006/main">
            <a:off x="9848850" y="5867400"/>
            <a:ext cx="7620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i="0">
                <a:solidFill>
                  <a:srgbClr val="12211D"/>
                </a:solidFill>
              </a:defRPr>
            </a:pPr>
            <a:r>
              <a:rPr sz="2400" b="1" i="0">
                <a:solidFill>
                  <a:srgbClr val="12211D"/>
                </a:solidFill>
              </a:rPr>
              <a:t>Engine</a:t>
            </a:r>
          </a:p>
        </p:txBody>
      </p:sp>
      <p:sp>
        <p:nvSpPr>
          <p:cNvPr id="13" name="open-list-copy-text-1">
            <a:extLst xmlns:a="http://schemas.openxmlformats.org/drawingml/2006/main">
              <a:ext uri="{FF2B5EF4-FFF2-40B4-BE49-F238E27FC236}">
                <a16:creationId xmlns:a16="http://schemas.microsoft.com/office/drawing/2014/main" id="{DAC0C034-3803-4311-A8CD-234BFE677695}"/>
              </a:ext>
            </a:extLst>
          </p:cNvPr>
          <p:cNvSpPr>
            <a:spLocks xmlns:a="http://schemas.openxmlformats.org/drawingml/2006/main" noGrp="1"/>
          </p:cNvSpPr>
          <p:nvPr/>
        </p:nvSpPr>
        <p:spPr>
          <a:xfrm xmlns:a="http://schemas.openxmlformats.org/drawingml/2006/main">
            <a:off x="9848850" y="6286500"/>
            <a:ext cx="70675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0E3832"/>
                </a:solidFill>
              </a:defRPr>
            </a:pPr>
            <a:r>
              <a:rPr sz="1800" b="0" i="0">
                <a:solidFill>
                  <a:srgbClr val="0E3832"/>
                </a:solidFill>
              </a:rPr>
              <a:t>AGI prompt graph for allergies, meds, sleep, stress, PAI, PM2.5, UV, and local ingredients.</a:t>
            </a:r>
          </a:p>
        </p:txBody>
      </p:sp>
      <p:sp>
        <p:nvSpPr>
          <p:cNvPr id="14" name="open-list-dot-2">
            <a:extLst xmlns:a="http://schemas.openxmlformats.org/drawingml/2006/main">
              <a:ext uri="{FF2B5EF4-FFF2-40B4-BE49-F238E27FC236}">
                <a16:creationId xmlns:a16="http://schemas.microsoft.com/office/drawing/2014/main" id="{21008271-0D7E-49F1-BD00-EFA7ABDC55D5}"/>
              </a:ext>
            </a:extLst>
          </p:cNvPr>
          <p:cNvSpPr>
            <a:spLocks xmlns:a="http://schemas.openxmlformats.org/drawingml/2006/main" noGrp="1"/>
          </p:cNvSpPr>
          <p:nvPr/>
        </p:nvSpPr>
        <p:spPr>
          <a:xfrm xmlns:a="http://schemas.openxmlformats.org/drawingml/2006/main">
            <a:off x="9486900" y="7086600"/>
            <a:ext cx="190500" cy="190500"/>
          </a:xfrm>
          <a:prstGeom xmlns:a="http://schemas.openxmlformats.org/drawingml/2006/main" prst="ellipse">
            <a:avLst/>
          </a:prstGeom>
          <a:solidFill xmlns:a="http://schemas.openxmlformats.org/drawingml/2006/main">
            <a:srgbClr val="4CA7C5"/>
          </a:solidFill>
        </p:spPr>
      </p:sp>
      <p:sp>
        <p:nvSpPr>
          <p:cNvPr id="15" name="open-list-label-2">
            <a:extLst xmlns:a="http://schemas.openxmlformats.org/drawingml/2006/main">
              <a:ext uri="{FF2B5EF4-FFF2-40B4-BE49-F238E27FC236}">
                <a16:creationId xmlns:a16="http://schemas.microsoft.com/office/drawing/2014/main" id="{AE25340A-12F6-430B-8548-64199465FD4A}"/>
              </a:ext>
            </a:extLst>
          </p:cNvPr>
          <p:cNvSpPr>
            <a:spLocks xmlns:a="http://schemas.openxmlformats.org/drawingml/2006/main" noGrp="1"/>
          </p:cNvSpPr>
          <p:nvPr/>
        </p:nvSpPr>
        <p:spPr>
          <a:xfrm xmlns:a="http://schemas.openxmlformats.org/drawingml/2006/main">
            <a:off x="9848850" y="7067550"/>
            <a:ext cx="7620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i="0">
                <a:solidFill>
                  <a:srgbClr val="12211D"/>
                </a:solidFill>
              </a:defRPr>
            </a:pPr>
            <a:r>
              <a:rPr sz="2400" b="1" i="0">
                <a:solidFill>
                  <a:srgbClr val="12211D"/>
                </a:solidFill>
              </a:rPr>
              <a:t>Demo</a:t>
            </a:r>
          </a:p>
        </p:txBody>
      </p:sp>
      <p:sp>
        <p:nvSpPr>
          <p:cNvPr id="16" name="open-list-copy-text-2">
            <a:extLst xmlns:a="http://schemas.openxmlformats.org/drawingml/2006/main">
              <a:ext uri="{FF2B5EF4-FFF2-40B4-BE49-F238E27FC236}">
                <a16:creationId xmlns:a16="http://schemas.microsoft.com/office/drawing/2014/main" id="{7A00832A-BF3E-4370-893A-ED2DCAEE1FD0}"/>
              </a:ext>
            </a:extLst>
          </p:cNvPr>
          <p:cNvSpPr>
            <a:spLocks xmlns:a="http://schemas.openxmlformats.org/drawingml/2006/main" noGrp="1"/>
          </p:cNvSpPr>
          <p:nvPr/>
        </p:nvSpPr>
        <p:spPr>
          <a:xfrm xmlns:a="http://schemas.openxmlformats.org/drawingml/2006/main">
            <a:off x="9848850" y="7486650"/>
            <a:ext cx="71818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0E3832"/>
                </a:solidFill>
              </a:defRPr>
            </a:pPr>
            <a:r>
              <a:rPr sz="1800" b="0" i="0">
                <a:solidFill>
                  <a:srgbClr val="0E3832"/>
                </a:solidFill>
              </a:rPr>
              <a:t>A Thai meal recommendation that flows into body, mind, and tourism healing actions.</a:t>
            </a:r>
          </a:p>
        </p:txBody>
      </p:sp>
      <p:sp>
        <p:nvSpPr>
          <p:cNvPr id="17" name="footer-label-11">
            <a:extLst xmlns:a="http://schemas.openxmlformats.org/drawingml/2006/main">
              <a:ext uri="{FF2B5EF4-FFF2-40B4-BE49-F238E27FC236}">
                <a16:creationId xmlns:a16="http://schemas.microsoft.com/office/drawing/2014/main" id="{31837284-2185-47BD-9684-56E75D342EE3}"/>
              </a:ext>
            </a:extLst>
          </p:cNvPr>
          <p:cNvSpPr>
            <a:spLocks xmlns:a="http://schemas.openxmlformats.org/drawingml/2006/main" noGrp="1"/>
          </p:cNvSpPr>
          <p:nvPr/>
        </p:nvSpPr>
        <p:spPr>
          <a:xfrm xmlns:a="http://schemas.openxmlformats.org/drawingml/2006/main">
            <a:off x="819150" y="9505950"/>
            <a:ext cx="23050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i="0">
                <a:solidFill>
                  <a:srgbClr val="6F7C73"/>
                </a:solidFill>
              </a:defRPr>
            </a:pPr>
            <a:r>
              <a:rPr sz="1350" b="0" i="0">
                <a:solidFill>
                  <a:srgbClr val="6F7C73"/>
                </a:solidFill>
              </a:rPr>
              <a:t>OmniWell Thai | Hackathon Pitch</a:t>
            </a:r>
          </a:p>
        </p:txBody>
      </p:sp>
      <p:sp>
        <p:nvSpPr>
          <p:cNvPr id="18" name="footer-number-11">
            <a:extLst xmlns:a="http://schemas.openxmlformats.org/drawingml/2006/main">
              <a:ext uri="{FF2B5EF4-FFF2-40B4-BE49-F238E27FC236}">
                <a16:creationId xmlns:a16="http://schemas.microsoft.com/office/drawing/2014/main" id="{91EDA748-2C22-4144-B52F-316B33695727}"/>
              </a:ext>
            </a:extLst>
          </p:cNvPr>
          <p:cNvSpPr>
            <a:spLocks xmlns:a="http://schemas.openxmlformats.org/drawingml/2006/main" noGrp="1"/>
          </p:cNvSpPr>
          <p:nvPr/>
        </p:nvSpPr>
        <p:spPr>
          <a:xfrm xmlns:a="http://schemas.openxmlformats.org/drawingml/2006/main">
            <a:off x="16935450" y="9505950"/>
            <a:ext cx="5334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i="0">
                <a:solidFill>
                  <a:srgbClr val="6F7C73"/>
                </a:solidFill>
              </a:defRPr>
            </a:pPr>
            <a:r>
              <a:rPr sz="1350" b="1" i="0">
                <a:solidFill>
                  <a:srgbClr val="6F7C73"/>
                </a:solidFill>
              </a:rPr>
              <a:t>11</a:t>
            </a:r>
          </a:p>
        </p:txBody>
      </p:sp>
    </p:spTree>
    <p:extLst>
      <p:ext uri="{BB962C8B-B14F-4D97-AF65-F5344CB8AC3E}">
        <p14:creationId xmlns:p14="http://schemas.microsoft.com/office/powerpoint/2010/main" val="7888831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2026-05-08T17:12:33.0870000Z</dcterms:created>
  <dcterms:modified xsi:type="dcterms:W3CDTF">2026-05-08T17:12:33.0870000Z</dcterms:modified>
</coreProperties>
</file>